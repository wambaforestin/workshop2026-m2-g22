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Requêtes</c:v>
                </c:pt>
              </c:strCache>
            </c:strRef>
          </c:tx>
          <c:spPr>
            <a:solidFill>
              <a:schemeClr val="accent1"/>
            </a:solidFill>
            <a:ln w="9525" cap="flat">
              <a:solidFill>
                <a:srgbClr val="F9F9F9"/>
              </a:solidFill>
              <a:prstDash val="solid"/>
              <a:round/>
            </a:ln>
            <a:effectLst/>
          </c:spPr>
          <c:dPt>
            <c:idx val="0"/>
            <c:bubble3D val="0"/>
            <c:spPr>
              <a:solidFill>
                <a:srgbClr val="E0574E"/>
              </a:solidFill>
              <a:effectLst/>
            </c:spPr>
          </c:dPt>
          <c:dPt>
            <c:idx val="1"/>
            <c:bubble3D val="0"/>
            <c:spPr>
              <a:solidFill>
                <a:srgbClr val="2BC39A"/>
              </a:solidFill>
              <a:effectLst/>
            </c:spPr>
          </c:dPt>
          <c:dLbls>
            <c:dLbl>
              <c:idx val="0"/>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Bloquées par le WAF (429)</c:v>
                </c:pt>
                <c:pt idx="1">
                  <c:v>Servies (200)</c:v>
                </c:pt>
              </c:strCache>
            </c:strRef>
          </c:cat>
          <c:val>
            <c:numRef>
              <c:f>Sheet1!$B$2:$B$3</c:f>
              <c:numCache>
                <c:ptCount val="2"/>
                <c:pt idx="0">
                  <c:v>10486</c:v>
                </c:pt>
                <c:pt idx="1">
                  <c:v>334</c:v>
                </c:pt>
              </c:numCache>
            </c:numRef>
          </c:val>
        </c:ser>
        <c:firstSliceAng val="0"/>
        <c:holeSize val="55"/>
      </c:doughnutChart>
      <c:spPr>
        <a:noFill/>
        <a:ln>
          <a:noFill/>
        </a:ln>
        <a:effectLst/>
      </c:spPr>
    </c:plotArea>
    <c:legend>
      <c:legendPos val="b"/>
      <c:overlay val="0"/>
      <c:txPr>
        <a:bodyPr/>
        <a:lstStyle/>
        <a:p>
          <a:pPr>
            <a:defRPr sz="1100">
              <a:solidFill>
                <a:srgbClr val="1B27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d'ouverture. Présentez le nom du projet et la promesse : démontrer qu'un SI de paiement critique peut encaisser un incident de sécurité et se rétablir SEUL, sans intervention humaine. Annoncez les 3 chiffres clés.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fil rouge de toute la soutenance : Détecter -&gt; Décider/Agir -&gt; Vérifier. Insistez sur le point 3 : un conteneur qui redémarre ne prouve RIEN ; nous vérifions la reprise métier réelle.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Posez le problème métier AVANT la technique. Le coût de l'arrêt d'une fonction de paiement est ce qui justifie tout l'investissement. Environnement 100% fictif, aucune donnée bancaire réelle.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Montrez que les 5 domaines ne sont pas juxtaposés mais INTÉGRÉS dans une seule plateforme cohérente. Chaque membre peut annoncer ici le(s) domaine(s) qu'il a porté(s).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Déroulez le flux : l'attaquant frappe le WAF ; le WAF protège l'API et l'auth devant la base ; Prometheus/Loki observent ; la détection ML lit les métriques et alerte la remédiation qui agit sur les conteneurs ; le dashboard montre tout. Message clé : surface d'exposition minimale.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Montrez (ou rappelez la démo) : une transaction fictive aboutit avec status settled. C'est la preuve que le métier fonctionne AVANT l'incident — indispensable pour prouver la reprise APRÈS.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chaîne d'observabilité n'est pas décorative : c'est elle qui ALIMENTE la détection. Prometheus fournit les métriques que le modèle ML analyse. Expliquez pourquoi pas d'Elastic : trop lourd pour le PC Hôte.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Analogie à donner : on apprend à quoi ressemble une journée normale, on l'encercle, tout ce qui sort est suspect — sans écrire 'si latence &gt; X'. Un Isolation Forest a d'abord été testé mais ratait certains écarts extrêmes ; la covariance robuste est plus fiable, validée par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Insistez sur la séparation des pouvoirs : l'assistant AIDE à comprendre, il n'AGIT pas. Le sujet l'exige explicitement. Dégradation gracieuse : si Ollama n'est pas lancé, l'assistant renvoie quand même les passages trouvés.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point décisif de la notation. Déroulez la boucle fermée. Deux messages forts : (1) on vérifie la reprise métier réelle, pas juste le redémarrage ; (2) le moteur privilégié est bridé à une liste fermée d'actions — on ne crée pas une porte dérobée au nom de la défense.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Défense en profondeur : plusieurs couches. Le WAF en entrée, le durcissement des conteneurs, le SIEM pour l'investigation, les secrets chiffrés. Rappelez le périmètre éthique : labo uniquement, jamais le réseau du campus ni des tiers.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histoires complémentaires. A : le WAF bloque massivement (défense qui marche). B : quand une attaque passe la barrière, l'IA prend le relais. Les scripts refusent toute cible hors labo et exigent une confirmation explicite.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Chiffres réels de votre démo. Le WAF a bloqué 97% (10486 sur 10820). La reprise automatique vise &lt; 60s. Insistez : on rend visible l'état AVANT, PENDANT et APRÈS l'incident — c'est l'exigence du sujet.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résilience n'est pas que technique. Montrez que vous savez quels services sont critiques, ce que coûte un arrêt, et que vous êtes honnêtes sur ce qu'un prototype peut ou non prouver vis-à-vis de NIS2/DORA. C'est la posture senior attendue.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ses limites est une FORCE, pas une faiblesse — ça montre la maturité. Terminez cette slide sur ce que vous revendiquez : crédible, exécuté, testé, défendable.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Résumez les 4 messages forts et enchaînez IMMÉDIATEMENT sur la démo live : une démonstration en fonctionnement vaut mieux qu'une suite de diapositives.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F38"/>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C9BB0"/>
          </a:solidFill>
          <a:ln/>
        </p:spPr>
      </p:sp>
      <p:sp>
        <p:nvSpPr>
          <p:cNvPr id="3" name="Text 1"/>
          <p:cNvSpPr txBox="1"/>
          <p:nvPr/>
        </p:nvSpPr>
        <p:spPr>
          <a:xfrm>
            <a:off x="548640" y="1371600"/>
            <a:ext cx="9144000" cy="365760"/>
          </a:xfrm>
          <a:prstGeom prst="rect">
            <a:avLst/>
          </a:prstGeom>
          <a:noFill/>
          <a:ln/>
        </p:spPr>
        <p:txBody>
          <a:bodyPr wrap="square" lIns="0" tIns="0" rIns="0" bIns="0" rtlCol="0" anchor="ctr"/>
          <a:lstStyle/>
          <a:p>
            <a:pPr indent="0" marL="0">
              <a:buNone/>
            </a:pPr>
            <a:r>
              <a:rPr lang="en-US" sz="1300" b="1" spc="300" kern="0" dirty="0">
                <a:solidFill>
                  <a:srgbClr val="1C9BB0"/>
                </a:solidFill>
                <a:latin typeface="Calibri" pitchFamily="34" charset="0"/>
                <a:ea typeface="Calibri" pitchFamily="34" charset="-122"/>
                <a:cs typeface="Calibri" pitchFamily="34" charset="-120"/>
              </a:rPr>
              <a:t>SUJET DE WORKSHOP NATIONAL · BAC+5</a:t>
            </a:r>
            <a:endParaRPr lang="en-US" sz="1300" dirty="0"/>
          </a:p>
        </p:txBody>
      </p:sp>
      <p:sp>
        <p:nvSpPr>
          <p:cNvPr id="4" name="Text 2"/>
          <p:cNvSpPr txBox="1"/>
          <p:nvPr/>
        </p:nvSpPr>
        <p:spPr>
          <a:xfrm>
            <a:off x="548640" y="1920240"/>
            <a:ext cx="11094415" cy="10058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PROJECT RESILIENCE-ALPHA</a:t>
            </a:r>
            <a:endParaRPr lang="en-US" sz="4800" dirty="0"/>
          </a:p>
        </p:txBody>
      </p:sp>
      <p:sp>
        <p:nvSpPr>
          <p:cNvPr id="5" name="Text 3"/>
          <p:cNvSpPr txBox="1"/>
          <p:nvPr/>
        </p:nvSpPr>
        <p:spPr>
          <a:xfrm>
            <a:off x="548640" y="2971800"/>
            <a:ext cx="11094415" cy="54864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Cyber-résilience et reprise autonome d'un système de paiement</a:t>
            </a:r>
            <a:endParaRPr lang="en-US" sz="2000" dirty="0"/>
          </a:p>
        </p:txBody>
      </p:sp>
      <p:sp>
        <p:nvSpPr>
          <p:cNvPr id="6" name="Text 4"/>
          <p:cNvSpPr txBox="1"/>
          <p:nvPr/>
        </p:nvSpPr>
        <p:spPr>
          <a:xfrm>
            <a:off x="548640" y="4206240"/>
            <a:ext cx="3291840" cy="731520"/>
          </a:xfrm>
          <a:prstGeom prst="rect">
            <a:avLst/>
          </a:prstGeom>
          <a:noFill/>
          <a:ln/>
        </p:spPr>
        <p:txBody>
          <a:bodyPr wrap="square" lIns="0" tIns="0" rIns="0" bIns="0" rtlCol="0" anchor="ctr"/>
          <a:lstStyle/>
          <a:p>
            <a:pPr indent="0" marL="0">
              <a:buNone/>
            </a:pPr>
            <a:r>
              <a:rPr lang="en-US" sz="4000" b="1" dirty="0">
                <a:solidFill>
                  <a:srgbClr val="2BC39A"/>
                </a:solidFill>
                <a:latin typeface="Calibri" pitchFamily="34" charset="0"/>
                <a:ea typeface="Calibri" pitchFamily="34" charset="-122"/>
                <a:cs typeface="Calibri" pitchFamily="34" charset="-120"/>
              </a:rPr>
              <a:t>5</a:t>
            </a:r>
            <a:endParaRPr lang="en-US" sz="4000" dirty="0"/>
          </a:p>
        </p:txBody>
      </p:sp>
      <p:sp>
        <p:nvSpPr>
          <p:cNvPr id="7" name="Text 5"/>
          <p:cNvSpPr txBox="1"/>
          <p:nvPr/>
        </p:nvSpPr>
        <p:spPr>
          <a:xfrm>
            <a:off x="548640" y="4983480"/>
            <a:ext cx="329184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domaines intégrés</a:t>
            </a:r>
            <a:endParaRPr lang="en-US" sz="1400" dirty="0"/>
          </a:p>
        </p:txBody>
      </p:sp>
      <p:sp>
        <p:nvSpPr>
          <p:cNvPr id="8" name="Text 6"/>
          <p:cNvSpPr txBox="1"/>
          <p:nvPr/>
        </p:nvSpPr>
        <p:spPr>
          <a:xfrm>
            <a:off x="4206240" y="4206240"/>
            <a:ext cx="3291840" cy="731520"/>
          </a:xfrm>
          <a:prstGeom prst="rect">
            <a:avLst/>
          </a:prstGeom>
          <a:noFill/>
          <a:ln/>
        </p:spPr>
        <p:txBody>
          <a:bodyPr wrap="square" lIns="0" tIns="0" rIns="0" bIns="0" rtlCol="0" anchor="ctr"/>
          <a:lstStyle/>
          <a:p>
            <a:pPr indent="0" marL="0">
              <a:buNone/>
            </a:pPr>
            <a:r>
              <a:rPr lang="en-US" sz="4000" b="1" dirty="0">
                <a:solidFill>
                  <a:srgbClr val="2BC39A"/>
                </a:solidFill>
                <a:latin typeface="Calibri" pitchFamily="34" charset="0"/>
                <a:ea typeface="Calibri" pitchFamily="34" charset="-122"/>
                <a:cs typeface="Calibri" pitchFamily="34" charset="-120"/>
              </a:rPr>
              <a:t>13</a:t>
            </a:r>
            <a:endParaRPr lang="en-US" sz="4000" dirty="0"/>
          </a:p>
        </p:txBody>
      </p:sp>
      <p:sp>
        <p:nvSpPr>
          <p:cNvPr id="9" name="Text 7"/>
          <p:cNvSpPr txBox="1"/>
          <p:nvPr/>
        </p:nvSpPr>
        <p:spPr>
          <a:xfrm>
            <a:off x="4206240" y="4983480"/>
            <a:ext cx="329184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services conteneurisés</a:t>
            </a:r>
            <a:endParaRPr lang="en-US" sz="1400" dirty="0"/>
          </a:p>
        </p:txBody>
      </p:sp>
      <p:sp>
        <p:nvSpPr>
          <p:cNvPr id="10" name="Text 8"/>
          <p:cNvSpPr txBox="1"/>
          <p:nvPr/>
        </p:nvSpPr>
        <p:spPr>
          <a:xfrm>
            <a:off x="7863840" y="4206240"/>
            <a:ext cx="3291840" cy="731520"/>
          </a:xfrm>
          <a:prstGeom prst="rect">
            <a:avLst/>
          </a:prstGeom>
          <a:noFill/>
          <a:ln/>
        </p:spPr>
        <p:txBody>
          <a:bodyPr wrap="square" lIns="0" tIns="0" rIns="0" bIns="0" rtlCol="0" anchor="ctr"/>
          <a:lstStyle/>
          <a:p>
            <a:pPr indent="0" marL="0">
              <a:buNone/>
            </a:pPr>
            <a:r>
              <a:rPr lang="en-US" sz="4000" b="1" dirty="0">
                <a:solidFill>
                  <a:srgbClr val="2BC39A"/>
                </a:solidFill>
                <a:latin typeface="Calibri" pitchFamily="34" charset="0"/>
                <a:ea typeface="Calibri" pitchFamily="34" charset="-122"/>
                <a:cs typeface="Calibri" pitchFamily="34" charset="-120"/>
              </a:rPr>
              <a:t>&lt; 60 s</a:t>
            </a:r>
            <a:endParaRPr lang="en-US" sz="4000" dirty="0"/>
          </a:p>
        </p:txBody>
      </p:sp>
      <p:sp>
        <p:nvSpPr>
          <p:cNvPr id="11" name="Text 9"/>
          <p:cNvSpPr txBox="1"/>
          <p:nvPr/>
        </p:nvSpPr>
        <p:spPr>
          <a:xfrm>
            <a:off x="7863840" y="4983480"/>
            <a:ext cx="329184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reprise automatique</a:t>
            </a:r>
            <a:endParaRPr lang="en-US" sz="1400" dirty="0"/>
          </a:p>
        </p:txBody>
      </p:sp>
      <p:sp>
        <p:nvSpPr>
          <p:cNvPr id="12" name="Text 10"/>
          <p:cNvSpPr txBox="1"/>
          <p:nvPr/>
        </p:nvSpPr>
        <p:spPr>
          <a:xfrm>
            <a:off x="548640" y="6126480"/>
            <a:ext cx="11094415" cy="365760"/>
          </a:xfrm>
          <a:prstGeom prst="rect">
            <a:avLst/>
          </a:prstGeom>
          <a:noFill/>
          <a:ln/>
        </p:spPr>
        <p:txBody>
          <a:bodyPr wrap="square" lIns="0" tIns="0" rIns="0" bIns="0" rtlCol="0" anchor="ctr"/>
          <a:lstStyle/>
          <a:p>
            <a:pPr indent="0" marL="0">
              <a:buNone/>
            </a:pPr>
            <a:r>
              <a:rPr lang="en-US" sz="1200" dirty="0">
                <a:solidFill>
                  <a:srgbClr val="63707E"/>
                </a:solidFill>
                <a:latin typeface="Calibri" pitchFamily="34" charset="0"/>
                <a:ea typeface="Calibri" pitchFamily="34" charset="-122"/>
                <a:cs typeface="Calibri" pitchFamily="34" charset="-120"/>
              </a:rPr>
              <a:t>Équipe Workshop2026-M2-G01  ·  Session Octobre 2026  ·  Démonstrateur à données fictives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1C9BB0"/>
                </a:solidFill>
                <a:latin typeface="Calibri" pitchFamily="34" charset="0"/>
                <a:ea typeface="Calibri" pitchFamily="34" charset="-122"/>
                <a:cs typeface="Calibri" pitchFamily="34" charset="-120"/>
              </a:rPr>
              <a:t>LE MESSAGE</a:t>
            </a:r>
            <a:endParaRPr lang="en-US" sz="1200" dirty="0"/>
          </a:p>
        </p:txBody>
      </p:sp>
      <p:sp>
        <p:nvSpPr>
          <p:cNvPr id="3" name="Text 1"/>
          <p:cNvSpPr txBox="1"/>
          <p:nvPr/>
        </p:nvSpPr>
        <p:spPr>
          <a:xfrm>
            <a:off x="548640" y="749808"/>
            <a:ext cx="11094415" cy="822960"/>
          </a:xfrm>
          <a:prstGeom prst="rect">
            <a:avLst/>
          </a:prstGeom>
          <a:noFill/>
          <a:ln/>
        </p:spPr>
        <p:txBody>
          <a:bodyPr wrap="square" lIns="0" tIns="0" rIns="0" bIns="0" rtlCol="0" anchor="ctr"/>
          <a:lstStyle/>
          <a:p>
            <a:pPr indent="0" marL="0">
              <a:buNone/>
            </a:pPr>
            <a:r>
              <a:rPr lang="en-US" sz="3200" b="1" dirty="0">
                <a:solidFill>
                  <a:srgbClr val="1B2733"/>
                </a:solidFill>
                <a:latin typeface="Calibri" pitchFamily="34" charset="0"/>
                <a:ea typeface="Calibri" pitchFamily="34" charset="-122"/>
                <a:cs typeface="Calibri" pitchFamily="34" charset="-120"/>
              </a:rPr>
              <a:t>Une plateforme qui se défend et se répare seule</a:t>
            </a:r>
            <a:endParaRPr lang="en-US" sz="3200" dirty="0"/>
          </a:p>
        </p:txBody>
      </p:sp>
      <p:sp>
        <p:nvSpPr>
          <p:cNvPr id="4" name="Text 2"/>
          <p:cNvSpPr txBox="1"/>
          <p:nvPr/>
        </p:nvSpPr>
        <p:spPr>
          <a:xfrm>
            <a:off x="548640" y="1691640"/>
            <a:ext cx="11094415" cy="731520"/>
          </a:xfrm>
          <a:prstGeom prst="rect">
            <a:avLst/>
          </a:prstGeom>
          <a:noFill/>
          <a:ln/>
        </p:spPr>
        <p:txBody>
          <a:bodyPr wrap="square" lIns="0" tIns="0" rIns="0" bIns="0" rtlCol="0" anchor="ctr"/>
          <a:lstStyle/>
          <a:p>
            <a:pPr indent="0" marL="0">
              <a:buNone/>
            </a:pPr>
            <a:r>
              <a:rPr lang="en-US" sz="1600" dirty="0">
                <a:solidFill>
                  <a:srgbClr val="1B2733"/>
                </a:solidFill>
                <a:latin typeface="Calibri" pitchFamily="34" charset="0"/>
                <a:ea typeface="Calibri" pitchFamily="34" charset="-122"/>
                <a:cs typeface="Calibri" pitchFamily="34" charset="-120"/>
              </a:rPr>
              <a:t>Aujourd'hui, quand un service de paiement tombe, un humain doit intervenir : c'est lent, manuel et difficilement reproductible. Nous démontrons l'inverse.</a:t>
            </a:r>
            <a:endParaRPr lang="en-US" sz="1600" dirty="0"/>
          </a:p>
        </p:txBody>
      </p:sp>
      <p:sp>
        <p:nvSpPr>
          <p:cNvPr id="5" name="Shape 3"/>
          <p:cNvSpPr/>
          <p:nvPr/>
        </p:nvSpPr>
        <p:spPr>
          <a:xfrm>
            <a:off x="548640" y="2743200"/>
            <a:ext cx="3520440" cy="2926080"/>
          </a:xfrm>
          <a:prstGeom prst="roundRect">
            <a:avLst>
              <a:gd name="adj" fmla="val 2500"/>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6" name="Shape 4"/>
          <p:cNvSpPr/>
          <p:nvPr/>
        </p:nvSpPr>
        <p:spPr>
          <a:xfrm>
            <a:off x="868680" y="3063240"/>
            <a:ext cx="640080" cy="640080"/>
          </a:xfrm>
          <a:prstGeom prst="ellipse">
            <a:avLst/>
          </a:prstGeom>
          <a:solidFill>
            <a:srgbClr val="1C9BB0"/>
          </a:solidFill>
          <a:ln/>
        </p:spPr>
      </p:sp>
      <p:sp>
        <p:nvSpPr>
          <p:cNvPr id="7" name="Text 5"/>
          <p:cNvSpPr txBox="1"/>
          <p:nvPr/>
        </p:nvSpPr>
        <p:spPr>
          <a:xfrm>
            <a:off x="868680" y="3044952"/>
            <a:ext cx="6400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868680" y="3840480"/>
            <a:ext cx="2880360" cy="457200"/>
          </a:xfrm>
          <a:prstGeom prst="rect">
            <a:avLst/>
          </a:prstGeom>
          <a:noFill/>
          <a:ln/>
        </p:spPr>
        <p:txBody>
          <a:bodyPr wrap="square" lIns="0" tIns="0" rIns="0" bIns="0" rtlCol="0" anchor="ctr"/>
          <a:lstStyle/>
          <a:p>
            <a:pPr indent="0" marL="0">
              <a:buNone/>
            </a:pPr>
            <a:r>
              <a:rPr lang="en-US" sz="2000" b="1" dirty="0">
                <a:solidFill>
                  <a:srgbClr val="1B2733"/>
                </a:solidFill>
                <a:latin typeface="Calibri" pitchFamily="34" charset="0"/>
                <a:ea typeface="Calibri" pitchFamily="34" charset="-122"/>
                <a:cs typeface="Calibri" pitchFamily="34" charset="-120"/>
              </a:rPr>
              <a:t>Détecter</a:t>
            </a:r>
            <a:endParaRPr lang="en-US" sz="2000" dirty="0"/>
          </a:p>
        </p:txBody>
      </p:sp>
      <p:sp>
        <p:nvSpPr>
          <p:cNvPr id="9" name="Text 7"/>
          <p:cNvSpPr txBox="1"/>
          <p:nvPr/>
        </p:nvSpPr>
        <p:spPr>
          <a:xfrm>
            <a:off x="868680" y="4389120"/>
            <a:ext cx="2880360" cy="1097280"/>
          </a:xfrm>
          <a:prstGeom prst="rect">
            <a:avLst/>
          </a:prstGeom>
          <a:noFill/>
          <a:ln/>
        </p:spPr>
        <p:txBody>
          <a:bodyPr wrap="square" lIns="0" tIns="0" rIns="0" bIns="0" rtlCol="0" anchor="ctr"/>
          <a:lstStyle/>
          <a:p>
            <a:pPr indent="0" marL="0">
              <a:buNone/>
            </a:pPr>
            <a:r>
              <a:rPr lang="en-US" sz="1400" dirty="0">
                <a:solidFill>
                  <a:srgbClr val="63707E"/>
                </a:solidFill>
                <a:latin typeface="Calibri" pitchFamily="34" charset="0"/>
                <a:ea typeface="Calibri" pitchFamily="34" charset="-122"/>
                <a:cs typeface="Calibri" pitchFamily="34" charset="-120"/>
              </a:rPr>
              <a:t>Un modèle de machine learning repère le comportement anormal sur les métriques temps réel.</a:t>
            </a:r>
            <a:endParaRPr lang="en-US" sz="1400" dirty="0"/>
          </a:p>
        </p:txBody>
      </p:sp>
      <p:sp>
        <p:nvSpPr>
          <p:cNvPr id="10" name="Shape 8"/>
          <p:cNvSpPr/>
          <p:nvPr/>
        </p:nvSpPr>
        <p:spPr>
          <a:xfrm>
            <a:off x="4343400" y="2743200"/>
            <a:ext cx="3520440" cy="2926080"/>
          </a:xfrm>
          <a:prstGeom prst="roundRect">
            <a:avLst>
              <a:gd name="adj" fmla="val 2500"/>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11" name="Shape 9"/>
          <p:cNvSpPr/>
          <p:nvPr/>
        </p:nvSpPr>
        <p:spPr>
          <a:xfrm>
            <a:off x="4663440" y="3063240"/>
            <a:ext cx="640080" cy="640080"/>
          </a:xfrm>
          <a:prstGeom prst="ellipse">
            <a:avLst/>
          </a:prstGeom>
          <a:solidFill>
            <a:srgbClr val="E6A23C"/>
          </a:solidFill>
          <a:ln/>
        </p:spPr>
      </p:sp>
      <p:sp>
        <p:nvSpPr>
          <p:cNvPr id="12" name="Text 10"/>
          <p:cNvSpPr txBox="1"/>
          <p:nvPr/>
        </p:nvSpPr>
        <p:spPr>
          <a:xfrm>
            <a:off x="4663440" y="3044952"/>
            <a:ext cx="6400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4663440" y="3840480"/>
            <a:ext cx="2880360" cy="457200"/>
          </a:xfrm>
          <a:prstGeom prst="rect">
            <a:avLst/>
          </a:prstGeom>
          <a:noFill/>
          <a:ln/>
        </p:spPr>
        <p:txBody>
          <a:bodyPr wrap="square" lIns="0" tIns="0" rIns="0" bIns="0" rtlCol="0" anchor="ctr"/>
          <a:lstStyle/>
          <a:p>
            <a:pPr indent="0" marL="0">
              <a:buNone/>
            </a:pPr>
            <a:r>
              <a:rPr lang="en-US" sz="2000" b="1" dirty="0">
                <a:solidFill>
                  <a:srgbClr val="1B2733"/>
                </a:solidFill>
                <a:latin typeface="Calibri" pitchFamily="34" charset="0"/>
                <a:ea typeface="Calibri" pitchFamily="34" charset="-122"/>
                <a:cs typeface="Calibri" pitchFamily="34" charset="-120"/>
              </a:rPr>
              <a:t>Décider &amp; agir</a:t>
            </a:r>
            <a:endParaRPr lang="en-US" sz="2000" dirty="0"/>
          </a:p>
        </p:txBody>
      </p:sp>
      <p:sp>
        <p:nvSpPr>
          <p:cNvPr id="14" name="Text 12"/>
          <p:cNvSpPr txBox="1"/>
          <p:nvPr/>
        </p:nvSpPr>
        <p:spPr>
          <a:xfrm>
            <a:off x="4663440" y="4389120"/>
            <a:ext cx="2880360" cy="1097280"/>
          </a:xfrm>
          <a:prstGeom prst="rect">
            <a:avLst/>
          </a:prstGeom>
          <a:noFill/>
          <a:ln/>
        </p:spPr>
        <p:txBody>
          <a:bodyPr wrap="square" lIns="0" tIns="0" rIns="0" bIns="0" rtlCol="0" anchor="ctr"/>
          <a:lstStyle/>
          <a:p>
            <a:pPr indent="0" marL="0">
              <a:buNone/>
            </a:pPr>
            <a:r>
              <a:rPr lang="en-US" sz="1400" dirty="0">
                <a:solidFill>
                  <a:srgbClr val="63707E"/>
                </a:solidFill>
                <a:latin typeface="Calibri" pitchFamily="34" charset="0"/>
                <a:ea typeface="Calibri" pitchFamily="34" charset="-122"/>
                <a:cs typeface="Calibri" pitchFamily="34" charset="-120"/>
              </a:rPr>
              <a:t>Un moteur de remédiation choisit l'action corrective et l'exécute sur les conteneurs.</a:t>
            </a:r>
            <a:endParaRPr lang="en-US" sz="1400" dirty="0"/>
          </a:p>
        </p:txBody>
      </p:sp>
      <p:sp>
        <p:nvSpPr>
          <p:cNvPr id="15" name="Shape 13"/>
          <p:cNvSpPr/>
          <p:nvPr/>
        </p:nvSpPr>
        <p:spPr>
          <a:xfrm>
            <a:off x="8138160" y="2743200"/>
            <a:ext cx="3520440" cy="2926080"/>
          </a:xfrm>
          <a:prstGeom prst="roundRect">
            <a:avLst>
              <a:gd name="adj" fmla="val 2500"/>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16" name="Shape 14"/>
          <p:cNvSpPr/>
          <p:nvPr/>
        </p:nvSpPr>
        <p:spPr>
          <a:xfrm>
            <a:off x="8458200" y="3063240"/>
            <a:ext cx="640080" cy="640080"/>
          </a:xfrm>
          <a:prstGeom prst="ellipse">
            <a:avLst/>
          </a:prstGeom>
          <a:solidFill>
            <a:srgbClr val="2BC39A"/>
          </a:solidFill>
          <a:ln/>
        </p:spPr>
      </p:sp>
      <p:sp>
        <p:nvSpPr>
          <p:cNvPr id="17" name="Text 15"/>
          <p:cNvSpPr txBox="1"/>
          <p:nvPr/>
        </p:nvSpPr>
        <p:spPr>
          <a:xfrm>
            <a:off x="8458200" y="3044952"/>
            <a:ext cx="6400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txBox="1"/>
          <p:nvPr/>
        </p:nvSpPr>
        <p:spPr>
          <a:xfrm>
            <a:off x="8458200" y="3840480"/>
            <a:ext cx="2880360" cy="457200"/>
          </a:xfrm>
          <a:prstGeom prst="rect">
            <a:avLst/>
          </a:prstGeom>
          <a:noFill/>
          <a:ln/>
        </p:spPr>
        <p:txBody>
          <a:bodyPr wrap="square" lIns="0" tIns="0" rIns="0" bIns="0" rtlCol="0" anchor="ctr"/>
          <a:lstStyle/>
          <a:p>
            <a:pPr indent="0" marL="0">
              <a:buNone/>
            </a:pPr>
            <a:r>
              <a:rPr lang="en-US" sz="2000" b="1" dirty="0">
                <a:solidFill>
                  <a:srgbClr val="1B2733"/>
                </a:solidFill>
                <a:latin typeface="Calibri" pitchFamily="34" charset="0"/>
                <a:ea typeface="Calibri" pitchFamily="34" charset="-122"/>
                <a:cs typeface="Calibri" pitchFamily="34" charset="-120"/>
              </a:rPr>
              <a:t>Vérifier la reprise</a:t>
            </a:r>
            <a:endParaRPr lang="en-US" sz="2000" dirty="0"/>
          </a:p>
        </p:txBody>
      </p:sp>
      <p:sp>
        <p:nvSpPr>
          <p:cNvPr id="19" name="Text 17"/>
          <p:cNvSpPr txBox="1"/>
          <p:nvPr/>
        </p:nvSpPr>
        <p:spPr>
          <a:xfrm>
            <a:off x="8458200" y="4389120"/>
            <a:ext cx="2880360" cy="1097280"/>
          </a:xfrm>
          <a:prstGeom prst="rect">
            <a:avLst/>
          </a:prstGeom>
          <a:noFill/>
          <a:ln/>
        </p:spPr>
        <p:txBody>
          <a:bodyPr wrap="square" lIns="0" tIns="0" rIns="0" bIns="0" rtlCol="0" anchor="ctr"/>
          <a:lstStyle/>
          <a:p>
            <a:pPr indent="0" marL="0">
              <a:buNone/>
            </a:pPr>
            <a:r>
              <a:rPr lang="en-US" sz="1400" dirty="0">
                <a:solidFill>
                  <a:srgbClr val="63707E"/>
                </a:solidFill>
                <a:latin typeface="Calibri" pitchFamily="34" charset="0"/>
                <a:ea typeface="Calibri" pitchFamily="34" charset="-122"/>
                <a:cs typeface="Calibri" pitchFamily="34" charset="-120"/>
              </a:rPr>
              <a:t>La plateforme prouve que le métier est rétabli : santé profonde + transaction fictive réussie.</a:t>
            </a:r>
            <a:endParaRPr lang="en-US" sz="1400" dirty="0"/>
          </a:p>
        </p:txBody>
      </p:sp>
      <p:sp>
        <p:nvSpPr>
          <p:cNvPr id="20" name="Text 18"/>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63707E"/>
                </a:solidFill>
                <a:latin typeface="Calibri" pitchFamily="34" charset="0"/>
                <a:ea typeface="Calibri" pitchFamily="34" charset="-122"/>
                <a:cs typeface="Calibri" pitchFamily="34" charset="-120"/>
              </a:rPr>
              <a:t>02</a:t>
            </a:r>
            <a:endParaRPr lang="en-US" sz="1000" dirty="0"/>
          </a:p>
        </p:txBody>
      </p:sp>
      <p:sp>
        <p:nvSpPr>
          <p:cNvPr id="21" name="Text 19"/>
          <p:cNvSpPr txBox="1"/>
          <p:nvPr/>
        </p:nvSpPr>
        <p:spPr>
          <a:xfrm>
            <a:off x="548640" y="6400800"/>
            <a:ext cx="4572000" cy="274320"/>
          </a:xfrm>
          <a:prstGeom prst="rect">
            <a:avLst/>
          </a:prstGeom>
          <a:noFill/>
          <a:ln/>
        </p:spPr>
        <p:txBody>
          <a:bodyPr wrap="square" lIns="0" tIns="0" rIns="0" bIns="0" rtlCol="0" anchor="ctr"/>
          <a:lstStyle/>
          <a:p>
            <a:pPr indent="0" marL="0">
              <a:buNone/>
            </a:pPr>
            <a:r>
              <a:rPr lang="en-US" sz="900" dirty="0">
                <a:solidFill>
                  <a:srgbClr val="63707E"/>
                </a:solidFill>
                <a:latin typeface="Calibri" pitchFamily="34" charset="0"/>
                <a:ea typeface="Calibri" pitchFamily="34" charset="-122"/>
                <a:cs typeface="Calibri" pitchFamily="34" charset="-120"/>
              </a:rPr>
              <a:t>Project Resilience-Alpha</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1C9BB0"/>
                </a:solidFill>
                <a:latin typeface="Calibri" pitchFamily="34" charset="0"/>
                <a:ea typeface="Calibri" pitchFamily="34" charset="-122"/>
                <a:cs typeface="Calibri" pitchFamily="34" charset="-120"/>
              </a:rPr>
              <a:t>1 · CONTEXTE &amp; ENJEUX</a:t>
            </a:r>
            <a:endParaRPr lang="en-US" sz="1200" dirty="0"/>
          </a:p>
        </p:txBody>
      </p:sp>
      <p:sp>
        <p:nvSpPr>
          <p:cNvPr id="3" name="Text 1"/>
          <p:cNvSpPr txBox="1"/>
          <p:nvPr/>
        </p:nvSpPr>
        <p:spPr>
          <a:xfrm>
            <a:off x="548640" y="749808"/>
            <a:ext cx="11094415" cy="822960"/>
          </a:xfrm>
          <a:prstGeom prst="rect">
            <a:avLst/>
          </a:prstGeom>
          <a:noFill/>
          <a:ln/>
        </p:spPr>
        <p:txBody>
          <a:bodyPr wrap="square" lIns="0" tIns="0" rIns="0" bIns="0" rtlCol="0" anchor="ctr"/>
          <a:lstStyle/>
          <a:p>
            <a:pPr indent="0" marL="0">
              <a:buNone/>
            </a:pPr>
            <a:r>
              <a:rPr lang="en-US" sz="3200" b="1" dirty="0">
                <a:solidFill>
                  <a:srgbClr val="1B2733"/>
                </a:solidFill>
                <a:latin typeface="Calibri" pitchFamily="34" charset="0"/>
                <a:ea typeface="Calibri" pitchFamily="34" charset="-122"/>
                <a:cs typeface="Calibri" pitchFamily="34" charset="-120"/>
              </a:rPr>
              <a:t>Quand un paiement ne passe plus</a:t>
            </a:r>
            <a:endParaRPr lang="en-US" sz="3200" dirty="0"/>
          </a:p>
        </p:txBody>
      </p:sp>
      <p:sp>
        <p:nvSpPr>
          <p:cNvPr id="4" name="Text 2"/>
          <p:cNvSpPr txBox="1"/>
          <p:nvPr/>
        </p:nvSpPr>
        <p:spPr>
          <a:xfrm>
            <a:off x="548640" y="1691640"/>
            <a:ext cx="5852160" cy="1463040"/>
          </a:xfrm>
          <a:prstGeom prst="rect">
            <a:avLst/>
          </a:prstGeom>
          <a:noFill/>
          <a:ln/>
        </p:spPr>
        <p:txBody>
          <a:bodyPr wrap="square" lIns="0" tIns="0" rIns="0" bIns="0" rtlCol="0" anchor="ctr"/>
          <a:lstStyle/>
          <a:p>
            <a:pPr indent="0" marL="0">
              <a:buNone/>
            </a:pPr>
            <a:r>
              <a:rPr lang="en-US" sz="1600" dirty="0">
                <a:solidFill>
                  <a:srgbClr val="1B2733"/>
                </a:solidFill>
                <a:latin typeface="Calibri" pitchFamily="34" charset="0"/>
                <a:ea typeface="Calibri" pitchFamily="34" charset="-122"/>
                <a:cs typeface="Calibri" pitchFamily="34" charset="-120"/>
              </a:rPr>
              <a:t>À l'automne 2026, une plateforme de paiement d'une société financière fictive subit des incidents répétés. Les équipes remettent le service en route, mais à la main — longuement et sans traçabilité.</a:t>
            </a:r>
            <a:endParaRPr lang="en-US" sz="1600" dirty="0"/>
          </a:p>
        </p:txBody>
      </p:sp>
      <p:sp>
        <p:nvSpPr>
          <p:cNvPr id="5" name="Shape 3"/>
          <p:cNvSpPr/>
          <p:nvPr/>
        </p:nvSpPr>
        <p:spPr>
          <a:xfrm>
            <a:off x="548640" y="3447288"/>
            <a:ext cx="164592" cy="164592"/>
          </a:xfrm>
          <a:prstGeom prst="ellipse">
            <a:avLst/>
          </a:prstGeom>
          <a:solidFill>
            <a:srgbClr val="E0574E"/>
          </a:solidFill>
          <a:ln/>
        </p:spPr>
      </p:sp>
      <p:sp>
        <p:nvSpPr>
          <p:cNvPr id="6" name="Text 4"/>
          <p:cNvSpPr txBox="1"/>
          <p:nvPr/>
        </p:nvSpPr>
        <p:spPr>
          <a:xfrm>
            <a:off x="868680" y="3383280"/>
            <a:ext cx="5669280" cy="457200"/>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Opérations partenaires retardées</a:t>
            </a:r>
            <a:endParaRPr lang="en-US" sz="1500" dirty="0"/>
          </a:p>
        </p:txBody>
      </p:sp>
      <p:sp>
        <p:nvSpPr>
          <p:cNvPr id="7" name="Shape 5"/>
          <p:cNvSpPr/>
          <p:nvPr/>
        </p:nvSpPr>
        <p:spPr>
          <a:xfrm>
            <a:off x="548640" y="4133088"/>
            <a:ext cx="164592" cy="164592"/>
          </a:xfrm>
          <a:prstGeom prst="ellipse">
            <a:avLst/>
          </a:prstGeom>
          <a:solidFill>
            <a:srgbClr val="E0574E"/>
          </a:solidFill>
          <a:ln/>
        </p:spPr>
      </p:sp>
      <p:sp>
        <p:nvSpPr>
          <p:cNvPr id="8" name="Text 6"/>
          <p:cNvSpPr txBox="1"/>
          <p:nvPr/>
        </p:nvSpPr>
        <p:spPr>
          <a:xfrm>
            <a:off x="868680" y="4069080"/>
            <a:ext cx="5669280" cy="457200"/>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Perte de confiance des utilisateurs</a:t>
            </a:r>
            <a:endParaRPr lang="en-US" sz="1500" dirty="0"/>
          </a:p>
        </p:txBody>
      </p:sp>
      <p:sp>
        <p:nvSpPr>
          <p:cNvPr id="9" name="Shape 7"/>
          <p:cNvSpPr/>
          <p:nvPr/>
        </p:nvSpPr>
        <p:spPr>
          <a:xfrm>
            <a:off x="548640" y="4818888"/>
            <a:ext cx="164592" cy="164592"/>
          </a:xfrm>
          <a:prstGeom prst="ellipse">
            <a:avLst/>
          </a:prstGeom>
          <a:solidFill>
            <a:srgbClr val="E0574E"/>
          </a:solidFill>
          <a:ln/>
        </p:spPr>
      </p:sp>
      <p:sp>
        <p:nvSpPr>
          <p:cNvPr id="10" name="Text 8"/>
          <p:cNvSpPr txBox="1"/>
          <p:nvPr/>
        </p:nvSpPr>
        <p:spPr>
          <a:xfrm>
            <a:off x="868680" y="4754880"/>
            <a:ext cx="5669280" cy="457200"/>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Chaque minute d'indisponibilité coûte</a:t>
            </a:r>
            <a:endParaRPr lang="en-US" sz="1500" dirty="0"/>
          </a:p>
        </p:txBody>
      </p:sp>
      <p:sp>
        <p:nvSpPr>
          <p:cNvPr id="11" name="Shape 9"/>
          <p:cNvSpPr/>
          <p:nvPr/>
        </p:nvSpPr>
        <p:spPr>
          <a:xfrm>
            <a:off x="548640" y="5504688"/>
            <a:ext cx="164592" cy="164592"/>
          </a:xfrm>
          <a:prstGeom prst="ellipse">
            <a:avLst/>
          </a:prstGeom>
          <a:solidFill>
            <a:srgbClr val="E6A23C"/>
          </a:solidFill>
          <a:ln/>
        </p:spPr>
      </p:sp>
      <p:sp>
        <p:nvSpPr>
          <p:cNvPr id="12" name="Text 10"/>
          <p:cNvSpPr txBox="1"/>
          <p:nvPr/>
        </p:nvSpPr>
        <p:spPr>
          <a:xfrm>
            <a:off x="868680" y="5440680"/>
            <a:ext cx="5669280" cy="457200"/>
          </a:xfrm>
          <a:prstGeom prst="rect">
            <a:avLst/>
          </a:prstGeom>
          <a:noFill/>
          <a:ln/>
        </p:spPr>
        <p:txBody>
          <a:bodyPr wrap="square" lIns="0" tIns="0" rIns="0" bIns="0" rtlCol="0" anchor="ctr"/>
          <a:lstStyle/>
          <a:p>
            <a:pPr indent="0" marL="0">
              <a:buNone/>
            </a:pPr>
            <a:r>
              <a:rPr lang="en-US" sz="1500" dirty="0">
                <a:solidFill>
                  <a:srgbClr val="1B2733"/>
                </a:solidFill>
                <a:latin typeface="Calibri" pitchFamily="34" charset="0"/>
                <a:ea typeface="Calibri" pitchFamily="34" charset="-122"/>
                <a:cs typeface="Calibri" pitchFamily="34" charset="-120"/>
              </a:rPr>
              <a:t>Exigences de sécurité &amp; traçabilité (secteur financier régulé)</a:t>
            </a:r>
            <a:endParaRPr lang="en-US" sz="1500" dirty="0"/>
          </a:p>
        </p:txBody>
      </p:sp>
      <p:sp>
        <p:nvSpPr>
          <p:cNvPr id="13" name="Shape 11"/>
          <p:cNvSpPr/>
          <p:nvPr/>
        </p:nvSpPr>
        <p:spPr>
          <a:xfrm>
            <a:off x="6858000" y="1691640"/>
            <a:ext cx="4785055" cy="4206240"/>
          </a:xfrm>
          <a:prstGeom prst="roundRect">
            <a:avLst>
              <a:gd name="adj" fmla="val 1739"/>
            </a:avLst>
          </a:prstGeom>
          <a:solidFill>
            <a:srgbClr val="0E1F38"/>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14" name="Text 12"/>
          <p:cNvSpPr txBox="1"/>
          <p:nvPr/>
        </p:nvSpPr>
        <p:spPr>
          <a:xfrm>
            <a:off x="7223760" y="2057400"/>
            <a:ext cx="4114800" cy="365760"/>
          </a:xfrm>
          <a:prstGeom prst="rect">
            <a:avLst/>
          </a:prstGeom>
          <a:noFill/>
          <a:ln/>
        </p:spPr>
        <p:txBody>
          <a:bodyPr wrap="square" lIns="0" tIns="0" rIns="0" bIns="0" rtlCol="0" anchor="ctr"/>
          <a:lstStyle/>
          <a:p>
            <a:pPr indent="0" marL="0">
              <a:buNone/>
            </a:pPr>
            <a:r>
              <a:rPr lang="en-US" sz="1300" b="1" spc="200" kern="0" dirty="0">
                <a:solidFill>
                  <a:srgbClr val="1C9BB0"/>
                </a:solidFill>
                <a:latin typeface="Calibri" pitchFamily="34" charset="0"/>
                <a:ea typeface="Calibri" pitchFamily="34" charset="-122"/>
                <a:cs typeface="Calibri" pitchFamily="34" charset="-120"/>
              </a:rPr>
              <a:t>NOTRE MISSION</a:t>
            </a:r>
            <a:endParaRPr lang="en-US" sz="1300" dirty="0"/>
          </a:p>
        </p:txBody>
      </p:sp>
      <p:sp>
        <p:nvSpPr>
          <p:cNvPr id="15" name="Text 13"/>
          <p:cNvSpPr txBox="1"/>
          <p:nvPr/>
        </p:nvSpPr>
        <p:spPr>
          <a:xfrm>
            <a:off x="7223760" y="2514600"/>
            <a:ext cx="4480560" cy="11887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Montrer, sur un périmètre maîtrisé, qu'une reprise automatique peut être conçue, observée et vérifiée.</a:t>
            </a:r>
            <a:endParaRPr lang="en-US" sz="2000" dirty="0"/>
          </a:p>
        </p:txBody>
      </p:sp>
      <p:sp>
        <p:nvSpPr>
          <p:cNvPr id="16" name="Text 14"/>
          <p:cNvSpPr txBox="1"/>
          <p:nvPr/>
        </p:nvSpPr>
        <p:spPr>
          <a:xfrm>
            <a:off x="7223760" y="3840480"/>
            <a:ext cx="4480560" cy="128016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L'objectif n'est pas un système infaillible, mais une chaîne de cyber-résilience crédible, exécutée et défendable.</a:t>
            </a:r>
            <a:endParaRPr lang="en-US" sz="1500" dirty="0"/>
          </a:p>
        </p:txBody>
      </p:sp>
      <p:sp>
        <p:nvSpPr>
          <p:cNvPr id="17" name="Text 15"/>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63707E"/>
                </a:solidFill>
                <a:latin typeface="Calibri" pitchFamily="34" charset="0"/>
                <a:ea typeface="Calibri" pitchFamily="34" charset="-122"/>
                <a:cs typeface="Calibri" pitchFamily="34" charset="-120"/>
              </a:rPr>
              <a:t>03</a:t>
            </a:r>
            <a:endParaRPr lang="en-US" sz="1000" dirty="0"/>
          </a:p>
        </p:txBody>
      </p:sp>
      <p:sp>
        <p:nvSpPr>
          <p:cNvPr id="18" name="Text 16"/>
          <p:cNvSpPr txBox="1"/>
          <p:nvPr/>
        </p:nvSpPr>
        <p:spPr>
          <a:xfrm>
            <a:off x="548640" y="6400800"/>
            <a:ext cx="4572000" cy="274320"/>
          </a:xfrm>
          <a:prstGeom prst="rect">
            <a:avLst/>
          </a:prstGeom>
          <a:noFill/>
          <a:ln/>
        </p:spPr>
        <p:txBody>
          <a:bodyPr wrap="square" lIns="0" tIns="0" rIns="0" bIns="0" rtlCol="0" anchor="ctr"/>
          <a:lstStyle/>
          <a:p>
            <a:pPr indent="0" marL="0">
              <a:buNone/>
            </a:pPr>
            <a:r>
              <a:rPr lang="en-US" sz="900" dirty="0">
                <a:solidFill>
                  <a:srgbClr val="63707E"/>
                </a:solidFill>
                <a:latin typeface="Calibri" pitchFamily="34" charset="0"/>
                <a:ea typeface="Calibri" pitchFamily="34" charset="-122"/>
                <a:cs typeface="Calibri" pitchFamily="34" charset="-120"/>
              </a:rPr>
              <a:t>Project Resilience-Alpha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1C9BB0"/>
                </a:solidFill>
                <a:latin typeface="Calibri" pitchFamily="34" charset="0"/>
                <a:ea typeface="Calibri" pitchFamily="34" charset="-122"/>
                <a:cs typeface="Calibri" pitchFamily="34" charset="-120"/>
              </a:rPr>
              <a:t>2 · PÉRIMÈTRE</a:t>
            </a:r>
            <a:endParaRPr lang="en-US" sz="1200" dirty="0"/>
          </a:p>
        </p:txBody>
      </p:sp>
      <p:sp>
        <p:nvSpPr>
          <p:cNvPr id="3" name="Text 1"/>
          <p:cNvSpPr txBox="1"/>
          <p:nvPr/>
        </p:nvSpPr>
        <p:spPr>
          <a:xfrm>
            <a:off x="548640" y="749808"/>
            <a:ext cx="11094415" cy="822960"/>
          </a:xfrm>
          <a:prstGeom prst="rect">
            <a:avLst/>
          </a:prstGeom>
          <a:noFill/>
          <a:ln/>
        </p:spPr>
        <p:txBody>
          <a:bodyPr wrap="square" lIns="0" tIns="0" rIns="0" bIns="0" rtlCol="0" anchor="ctr"/>
          <a:lstStyle/>
          <a:p>
            <a:pPr indent="0" marL="0">
              <a:buNone/>
            </a:pPr>
            <a:r>
              <a:rPr lang="en-US" sz="3200" b="1" dirty="0">
                <a:solidFill>
                  <a:srgbClr val="1B2733"/>
                </a:solidFill>
                <a:latin typeface="Calibri" pitchFamily="34" charset="0"/>
                <a:ea typeface="Calibri" pitchFamily="34" charset="-122"/>
                <a:cs typeface="Calibri" pitchFamily="34" charset="-120"/>
              </a:rPr>
              <a:t>Cinq domaines, une plateforme unique</a:t>
            </a:r>
            <a:endParaRPr lang="en-US" sz="3200" dirty="0"/>
          </a:p>
        </p:txBody>
      </p:sp>
      <p:sp>
        <p:nvSpPr>
          <p:cNvPr id="4" name="Shape 2"/>
          <p:cNvSpPr/>
          <p:nvPr/>
        </p:nvSpPr>
        <p:spPr>
          <a:xfrm>
            <a:off x="548640" y="1828800"/>
            <a:ext cx="3520440" cy="1920240"/>
          </a:xfrm>
          <a:prstGeom prst="roundRect">
            <a:avLst>
              <a:gd name="adj" fmla="val 3810"/>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5" name="Shape 3"/>
          <p:cNvSpPr/>
          <p:nvPr/>
        </p:nvSpPr>
        <p:spPr>
          <a:xfrm>
            <a:off x="822960" y="2148840"/>
            <a:ext cx="457200" cy="73152"/>
          </a:xfrm>
          <a:prstGeom prst="rect">
            <a:avLst/>
          </a:prstGeom>
          <a:solidFill>
            <a:srgbClr val="1C9BB0"/>
          </a:solidFill>
          <a:ln/>
        </p:spPr>
      </p:sp>
      <p:sp>
        <p:nvSpPr>
          <p:cNvPr id="6" name="Text 4"/>
          <p:cNvSpPr txBox="1"/>
          <p:nvPr/>
        </p:nvSpPr>
        <p:spPr>
          <a:xfrm>
            <a:off x="822960" y="2286000"/>
            <a:ext cx="2971800" cy="457200"/>
          </a:xfrm>
          <a:prstGeom prst="rect">
            <a:avLst/>
          </a:prstGeom>
          <a:noFill/>
          <a:ln/>
        </p:spPr>
        <p:txBody>
          <a:bodyPr wrap="square" lIns="0" tIns="0" rIns="0" bIns="0" rtlCol="0" anchor="ctr"/>
          <a:lstStyle/>
          <a:p>
            <a:pPr indent="0" marL="0">
              <a:buNone/>
            </a:pPr>
            <a:r>
              <a:rPr lang="en-US" sz="1800" b="1" dirty="0">
                <a:solidFill>
                  <a:srgbClr val="1B2733"/>
                </a:solidFill>
                <a:latin typeface="Calibri" pitchFamily="34" charset="0"/>
                <a:ea typeface="Calibri" pitchFamily="34" charset="-122"/>
                <a:cs typeface="Calibri" pitchFamily="34" charset="-120"/>
              </a:rPr>
              <a:t>Développement</a:t>
            </a:r>
            <a:endParaRPr lang="en-US" sz="1800" dirty="0"/>
          </a:p>
        </p:txBody>
      </p:sp>
      <p:sp>
        <p:nvSpPr>
          <p:cNvPr id="7" name="Text 5"/>
          <p:cNvSpPr txBox="1"/>
          <p:nvPr/>
        </p:nvSpPr>
        <p:spPr>
          <a:xfrm>
            <a:off x="822960" y="2788920"/>
            <a:ext cx="2971800" cy="822960"/>
          </a:xfrm>
          <a:prstGeom prst="rect">
            <a:avLst/>
          </a:prstGeom>
          <a:noFill/>
          <a:ln/>
        </p:spPr>
        <p:txBody>
          <a:bodyPr wrap="square" lIns="0" tIns="0" rIns="0" bIns="0" rtlCol="0" anchor="ctr"/>
          <a:lstStyle/>
          <a:p>
            <a:pPr indent="0" marL="0">
              <a:buNone/>
            </a:pPr>
            <a:r>
              <a:rPr lang="en-US" sz="1300" dirty="0">
                <a:solidFill>
                  <a:srgbClr val="63707E"/>
                </a:solidFill>
                <a:latin typeface="Calibri" pitchFamily="34" charset="0"/>
                <a:ea typeface="Calibri" pitchFamily="34" charset="-122"/>
                <a:cs typeface="Calibri" pitchFamily="34" charset="-120"/>
              </a:rPr>
              <a:t>Microservices FastAPI, auth JWT, base, vitrine &amp; dashboard React/Tailwind</a:t>
            </a:r>
            <a:endParaRPr lang="en-US" sz="1300" dirty="0"/>
          </a:p>
        </p:txBody>
      </p:sp>
      <p:sp>
        <p:nvSpPr>
          <p:cNvPr id="8" name="Shape 6"/>
          <p:cNvSpPr/>
          <p:nvPr/>
        </p:nvSpPr>
        <p:spPr>
          <a:xfrm>
            <a:off x="4343400" y="1828800"/>
            <a:ext cx="3520440" cy="1920240"/>
          </a:xfrm>
          <a:prstGeom prst="roundRect">
            <a:avLst>
              <a:gd name="adj" fmla="val 3810"/>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9" name="Shape 7"/>
          <p:cNvSpPr/>
          <p:nvPr/>
        </p:nvSpPr>
        <p:spPr>
          <a:xfrm>
            <a:off x="4617720" y="2148840"/>
            <a:ext cx="457200" cy="73152"/>
          </a:xfrm>
          <a:prstGeom prst="rect">
            <a:avLst/>
          </a:prstGeom>
          <a:solidFill>
            <a:srgbClr val="1C9BB0"/>
          </a:solidFill>
          <a:ln/>
        </p:spPr>
      </p:sp>
      <p:sp>
        <p:nvSpPr>
          <p:cNvPr id="10" name="Text 8"/>
          <p:cNvSpPr txBox="1"/>
          <p:nvPr/>
        </p:nvSpPr>
        <p:spPr>
          <a:xfrm>
            <a:off x="4617720" y="2286000"/>
            <a:ext cx="2971800" cy="457200"/>
          </a:xfrm>
          <a:prstGeom prst="rect">
            <a:avLst/>
          </a:prstGeom>
          <a:noFill/>
          <a:ln/>
        </p:spPr>
        <p:txBody>
          <a:bodyPr wrap="square" lIns="0" tIns="0" rIns="0" bIns="0" rtlCol="0" anchor="ctr"/>
          <a:lstStyle/>
          <a:p>
            <a:pPr indent="0" marL="0">
              <a:buNone/>
            </a:pPr>
            <a:r>
              <a:rPr lang="en-US" sz="1800" b="1" dirty="0">
                <a:solidFill>
                  <a:srgbClr val="1B2733"/>
                </a:solidFill>
                <a:latin typeface="Calibri" pitchFamily="34" charset="0"/>
                <a:ea typeface="Calibri" pitchFamily="34" charset="-122"/>
                <a:cs typeface="Calibri" pitchFamily="34" charset="-120"/>
              </a:rPr>
              <a:t>Infrastructure</a:t>
            </a:r>
            <a:endParaRPr lang="en-US" sz="1800" dirty="0"/>
          </a:p>
        </p:txBody>
      </p:sp>
      <p:sp>
        <p:nvSpPr>
          <p:cNvPr id="11" name="Text 9"/>
          <p:cNvSpPr txBox="1"/>
          <p:nvPr/>
        </p:nvSpPr>
        <p:spPr>
          <a:xfrm>
            <a:off x="4617720" y="2788920"/>
            <a:ext cx="2971800" cy="822960"/>
          </a:xfrm>
          <a:prstGeom prst="rect">
            <a:avLst/>
          </a:prstGeom>
          <a:noFill/>
          <a:ln/>
        </p:spPr>
        <p:txBody>
          <a:bodyPr wrap="square" lIns="0" tIns="0" rIns="0" bIns="0" rtlCol="0" anchor="ctr"/>
          <a:lstStyle/>
          <a:p>
            <a:pPr indent="0" marL="0">
              <a:buNone/>
            </a:pPr>
            <a:r>
              <a:rPr lang="en-US" sz="1300" dirty="0">
                <a:solidFill>
                  <a:srgbClr val="63707E"/>
                </a:solidFill>
                <a:latin typeface="Calibri" pitchFamily="34" charset="0"/>
                <a:ea typeface="Calibri" pitchFamily="34" charset="-122"/>
                <a:cs typeface="Calibri" pitchFamily="34" charset="-120"/>
              </a:rPr>
              <a:t>Docker Compose, Ansible, Prometheus / Grafana / Loki</a:t>
            </a:r>
            <a:endParaRPr lang="en-US" sz="1300" dirty="0"/>
          </a:p>
        </p:txBody>
      </p:sp>
      <p:sp>
        <p:nvSpPr>
          <p:cNvPr id="12" name="Shape 10"/>
          <p:cNvSpPr/>
          <p:nvPr/>
        </p:nvSpPr>
        <p:spPr>
          <a:xfrm>
            <a:off x="8138160" y="1828800"/>
            <a:ext cx="3520440" cy="1920240"/>
          </a:xfrm>
          <a:prstGeom prst="roundRect">
            <a:avLst>
              <a:gd name="adj" fmla="val 3810"/>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13" name="Shape 11"/>
          <p:cNvSpPr/>
          <p:nvPr/>
        </p:nvSpPr>
        <p:spPr>
          <a:xfrm>
            <a:off x="8412480" y="2148840"/>
            <a:ext cx="457200" cy="73152"/>
          </a:xfrm>
          <a:prstGeom prst="rect">
            <a:avLst/>
          </a:prstGeom>
          <a:solidFill>
            <a:srgbClr val="2BC39A"/>
          </a:solidFill>
          <a:ln/>
        </p:spPr>
      </p:sp>
      <p:sp>
        <p:nvSpPr>
          <p:cNvPr id="14" name="Text 12"/>
          <p:cNvSpPr txBox="1"/>
          <p:nvPr/>
        </p:nvSpPr>
        <p:spPr>
          <a:xfrm>
            <a:off x="8412480" y="2286000"/>
            <a:ext cx="2971800" cy="457200"/>
          </a:xfrm>
          <a:prstGeom prst="rect">
            <a:avLst/>
          </a:prstGeom>
          <a:noFill/>
          <a:ln/>
        </p:spPr>
        <p:txBody>
          <a:bodyPr wrap="square" lIns="0" tIns="0" rIns="0" bIns="0" rtlCol="0" anchor="ctr"/>
          <a:lstStyle/>
          <a:p>
            <a:pPr indent="0" marL="0">
              <a:buNone/>
            </a:pPr>
            <a:r>
              <a:rPr lang="en-US" sz="1800" b="1" dirty="0">
                <a:solidFill>
                  <a:srgbClr val="1B2733"/>
                </a:solidFill>
                <a:latin typeface="Calibri" pitchFamily="34" charset="0"/>
                <a:ea typeface="Calibri" pitchFamily="34" charset="-122"/>
                <a:cs typeface="Calibri" pitchFamily="34" charset="-120"/>
              </a:rPr>
              <a:t>IA / Data</a:t>
            </a:r>
            <a:endParaRPr lang="en-US" sz="1800" dirty="0"/>
          </a:p>
        </p:txBody>
      </p:sp>
      <p:sp>
        <p:nvSpPr>
          <p:cNvPr id="15" name="Text 13"/>
          <p:cNvSpPr txBox="1"/>
          <p:nvPr/>
        </p:nvSpPr>
        <p:spPr>
          <a:xfrm>
            <a:off x="8412480" y="2788920"/>
            <a:ext cx="2971800" cy="822960"/>
          </a:xfrm>
          <a:prstGeom prst="rect">
            <a:avLst/>
          </a:prstGeom>
          <a:noFill/>
          <a:ln/>
        </p:spPr>
        <p:txBody>
          <a:bodyPr wrap="square" lIns="0" tIns="0" rIns="0" bIns="0" rtlCol="0" anchor="ctr"/>
          <a:lstStyle/>
          <a:p>
            <a:pPr indent="0" marL="0">
              <a:buNone/>
            </a:pPr>
            <a:r>
              <a:rPr lang="en-US" sz="1300" dirty="0">
                <a:solidFill>
                  <a:srgbClr val="63707E"/>
                </a:solidFill>
                <a:latin typeface="Calibri" pitchFamily="34" charset="0"/>
                <a:ea typeface="Calibri" pitchFamily="34" charset="-122"/>
                <a:cs typeface="Calibri" pitchFamily="34" charset="-120"/>
              </a:rPr>
              <a:t>Détection d'anomalies (ML) + assistant RAG (Ollama + LangChain)</a:t>
            </a:r>
            <a:endParaRPr lang="en-US" sz="1300" dirty="0"/>
          </a:p>
        </p:txBody>
      </p:sp>
      <p:sp>
        <p:nvSpPr>
          <p:cNvPr id="16" name="Shape 14"/>
          <p:cNvSpPr/>
          <p:nvPr/>
        </p:nvSpPr>
        <p:spPr>
          <a:xfrm>
            <a:off x="548640" y="3977640"/>
            <a:ext cx="3520440" cy="1920240"/>
          </a:xfrm>
          <a:prstGeom prst="roundRect">
            <a:avLst>
              <a:gd name="adj" fmla="val 3810"/>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17" name="Shape 15"/>
          <p:cNvSpPr/>
          <p:nvPr/>
        </p:nvSpPr>
        <p:spPr>
          <a:xfrm>
            <a:off x="822960" y="4297680"/>
            <a:ext cx="457200" cy="73152"/>
          </a:xfrm>
          <a:prstGeom prst="rect">
            <a:avLst/>
          </a:prstGeom>
          <a:solidFill>
            <a:srgbClr val="E0574E"/>
          </a:solidFill>
          <a:ln/>
        </p:spPr>
      </p:sp>
      <p:sp>
        <p:nvSpPr>
          <p:cNvPr id="18" name="Text 16"/>
          <p:cNvSpPr txBox="1"/>
          <p:nvPr/>
        </p:nvSpPr>
        <p:spPr>
          <a:xfrm>
            <a:off x="822960" y="4434840"/>
            <a:ext cx="2971800" cy="457200"/>
          </a:xfrm>
          <a:prstGeom prst="rect">
            <a:avLst/>
          </a:prstGeom>
          <a:noFill/>
          <a:ln/>
        </p:spPr>
        <p:txBody>
          <a:bodyPr wrap="square" lIns="0" tIns="0" rIns="0" bIns="0" rtlCol="0" anchor="ctr"/>
          <a:lstStyle/>
          <a:p>
            <a:pPr indent="0" marL="0">
              <a:buNone/>
            </a:pPr>
            <a:r>
              <a:rPr lang="en-US" sz="1800" b="1" dirty="0">
                <a:solidFill>
                  <a:srgbClr val="1B2733"/>
                </a:solidFill>
                <a:latin typeface="Calibri" pitchFamily="34" charset="0"/>
                <a:ea typeface="Calibri" pitchFamily="34" charset="-122"/>
                <a:cs typeface="Calibri" pitchFamily="34" charset="-120"/>
              </a:rPr>
              <a:t>Cybersécurité</a:t>
            </a:r>
            <a:endParaRPr lang="en-US" sz="1800" dirty="0"/>
          </a:p>
        </p:txBody>
      </p:sp>
      <p:sp>
        <p:nvSpPr>
          <p:cNvPr id="19" name="Text 17"/>
          <p:cNvSpPr txBox="1"/>
          <p:nvPr/>
        </p:nvSpPr>
        <p:spPr>
          <a:xfrm>
            <a:off x="822960" y="4937760"/>
            <a:ext cx="2971800" cy="822960"/>
          </a:xfrm>
          <a:prstGeom prst="rect">
            <a:avLst/>
          </a:prstGeom>
          <a:noFill/>
          <a:ln/>
        </p:spPr>
        <p:txBody>
          <a:bodyPr wrap="square" lIns="0" tIns="0" rIns="0" bIns="0" rtlCol="0" anchor="ctr"/>
          <a:lstStyle/>
          <a:p>
            <a:pPr indent="0" marL="0">
              <a:buNone/>
            </a:pPr>
            <a:r>
              <a:rPr lang="en-US" sz="1300" dirty="0">
                <a:solidFill>
                  <a:srgbClr val="63707E"/>
                </a:solidFill>
                <a:latin typeface="Calibri" pitchFamily="34" charset="0"/>
                <a:ea typeface="Calibri" pitchFamily="34" charset="-122"/>
                <a:cs typeface="Calibri" pitchFamily="34" charset="-120"/>
              </a:rPr>
              <a:t>WAF, SIEM, durcissement, secrets SOPS/Vault, Red Team de labo</a:t>
            </a:r>
            <a:endParaRPr lang="en-US" sz="1300" dirty="0"/>
          </a:p>
        </p:txBody>
      </p:sp>
      <p:sp>
        <p:nvSpPr>
          <p:cNvPr id="20" name="Shape 18"/>
          <p:cNvSpPr/>
          <p:nvPr/>
        </p:nvSpPr>
        <p:spPr>
          <a:xfrm>
            <a:off x="4343400" y="3977640"/>
            <a:ext cx="3520440" cy="1920240"/>
          </a:xfrm>
          <a:prstGeom prst="roundRect">
            <a:avLst>
              <a:gd name="adj" fmla="val 3810"/>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21" name="Shape 19"/>
          <p:cNvSpPr/>
          <p:nvPr/>
        </p:nvSpPr>
        <p:spPr>
          <a:xfrm>
            <a:off x="4617720" y="4297680"/>
            <a:ext cx="457200" cy="73152"/>
          </a:xfrm>
          <a:prstGeom prst="rect">
            <a:avLst/>
          </a:prstGeom>
          <a:solidFill>
            <a:srgbClr val="E6A23C"/>
          </a:solidFill>
          <a:ln/>
        </p:spPr>
      </p:sp>
      <p:sp>
        <p:nvSpPr>
          <p:cNvPr id="22" name="Text 20"/>
          <p:cNvSpPr txBox="1"/>
          <p:nvPr/>
        </p:nvSpPr>
        <p:spPr>
          <a:xfrm>
            <a:off x="4617720" y="4434840"/>
            <a:ext cx="2971800" cy="457200"/>
          </a:xfrm>
          <a:prstGeom prst="rect">
            <a:avLst/>
          </a:prstGeom>
          <a:noFill/>
          <a:ln/>
        </p:spPr>
        <p:txBody>
          <a:bodyPr wrap="square" lIns="0" tIns="0" rIns="0" bIns="0" rtlCol="0" anchor="ctr"/>
          <a:lstStyle/>
          <a:p>
            <a:pPr indent="0" marL="0">
              <a:buNone/>
            </a:pPr>
            <a:r>
              <a:rPr lang="en-US" sz="1800" b="1" dirty="0">
                <a:solidFill>
                  <a:srgbClr val="1B2733"/>
                </a:solidFill>
                <a:latin typeface="Calibri" pitchFamily="34" charset="0"/>
                <a:ea typeface="Calibri" pitchFamily="34" charset="-122"/>
                <a:cs typeface="Calibri" pitchFamily="34" charset="-120"/>
              </a:rPr>
              <a:t>Gouvernance</a:t>
            </a:r>
            <a:endParaRPr lang="en-US" sz="1800" dirty="0"/>
          </a:p>
        </p:txBody>
      </p:sp>
      <p:sp>
        <p:nvSpPr>
          <p:cNvPr id="23" name="Text 21"/>
          <p:cNvSpPr txBox="1"/>
          <p:nvPr/>
        </p:nvSpPr>
        <p:spPr>
          <a:xfrm>
            <a:off x="4617720" y="4937760"/>
            <a:ext cx="2971800" cy="822960"/>
          </a:xfrm>
          <a:prstGeom prst="rect">
            <a:avLst/>
          </a:prstGeom>
          <a:noFill/>
          <a:ln/>
        </p:spPr>
        <p:txBody>
          <a:bodyPr wrap="square" lIns="0" tIns="0" rIns="0" bIns="0" rtlCol="0" anchor="ctr"/>
          <a:lstStyle/>
          <a:p>
            <a:pPr indent="0" marL="0">
              <a:buNone/>
            </a:pPr>
            <a:r>
              <a:rPr lang="en-US" sz="1300" dirty="0">
                <a:solidFill>
                  <a:srgbClr val="63707E"/>
                </a:solidFill>
                <a:latin typeface="Calibri" pitchFamily="34" charset="0"/>
                <a:ea typeface="Calibri" pitchFamily="34" charset="-122"/>
                <a:cs typeface="Calibri" pitchFamily="34" charset="-120"/>
              </a:rPr>
              <a:t>EBIOS RM, PCA/PRA, conformité NIS2 / DORA, arbitrages</a:t>
            </a:r>
            <a:endParaRPr lang="en-US" sz="1300" dirty="0"/>
          </a:p>
        </p:txBody>
      </p:sp>
      <p:sp>
        <p:nvSpPr>
          <p:cNvPr id="24" name="Shape 22"/>
          <p:cNvSpPr/>
          <p:nvPr/>
        </p:nvSpPr>
        <p:spPr>
          <a:xfrm>
            <a:off x="8138160" y="3977640"/>
            <a:ext cx="3520440" cy="1920240"/>
          </a:xfrm>
          <a:prstGeom prst="roundRect">
            <a:avLst>
              <a:gd name="adj" fmla="val 3810"/>
            </a:avLst>
          </a:prstGeom>
          <a:solidFill>
            <a:srgbClr val="0E1F38"/>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25" name="Text 23"/>
          <p:cNvSpPr txBox="1"/>
          <p:nvPr/>
        </p:nvSpPr>
        <p:spPr>
          <a:xfrm>
            <a:off x="8412480" y="4389120"/>
            <a:ext cx="2971800" cy="1188720"/>
          </a:xfrm>
          <a:prstGeom prst="rect">
            <a:avLst/>
          </a:prstGeom>
          <a:noFill/>
          <a:ln/>
        </p:spPr>
        <p:txBody>
          <a:bodyPr wrap="square" lIns="0" tIns="0" rIns="0" bIns="0" rtlCol="0" anchor="ctr"/>
          <a:lstStyle/>
          <a:p>
            <a:pPr indent="0" marL="0">
              <a:buNone/>
            </a:pPr>
            <a:r>
              <a:rPr lang="en-US" sz="1600" b="1" i="1" dirty="0">
                <a:solidFill>
                  <a:srgbClr val="FFFFFF"/>
                </a:solidFill>
                <a:latin typeface="Calibri" pitchFamily="34" charset="0"/>
                <a:ea typeface="Calibri" pitchFamily="34" charset="-122"/>
                <a:cs typeface="Calibri" pitchFamily="34" charset="-120"/>
              </a:rPr>
              <a:t>Les cinq piliers sont obligatoires, quelle que soit la composition de l'équipe.</a:t>
            </a:r>
            <a:endParaRPr lang="en-US" sz="1600" dirty="0"/>
          </a:p>
        </p:txBody>
      </p:sp>
      <p:sp>
        <p:nvSpPr>
          <p:cNvPr id="26" name="Text 24"/>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63707E"/>
                </a:solidFill>
                <a:latin typeface="Calibri" pitchFamily="34" charset="0"/>
                <a:ea typeface="Calibri" pitchFamily="34" charset="-122"/>
                <a:cs typeface="Calibri" pitchFamily="34" charset="-120"/>
              </a:rPr>
              <a:t>04</a:t>
            </a:r>
            <a:endParaRPr lang="en-US" sz="1000" dirty="0"/>
          </a:p>
        </p:txBody>
      </p:sp>
      <p:sp>
        <p:nvSpPr>
          <p:cNvPr id="27" name="Text 25"/>
          <p:cNvSpPr txBox="1"/>
          <p:nvPr/>
        </p:nvSpPr>
        <p:spPr>
          <a:xfrm>
            <a:off x="548640" y="6400800"/>
            <a:ext cx="4572000" cy="274320"/>
          </a:xfrm>
          <a:prstGeom prst="rect">
            <a:avLst/>
          </a:prstGeom>
          <a:noFill/>
          <a:ln/>
        </p:spPr>
        <p:txBody>
          <a:bodyPr wrap="square" lIns="0" tIns="0" rIns="0" bIns="0" rtlCol="0" anchor="ctr"/>
          <a:lstStyle/>
          <a:p>
            <a:pPr indent="0" marL="0">
              <a:buNone/>
            </a:pPr>
            <a:r>
              <a:rPr lang="en-US" sz="900" dirty="0">
                <a:solidFill>
                  <a:srgbClr val="63707E"/>
                </a:solidFill>
                <a:latin typeface="Calibri" pitchFamily="34" charset="0"/>
                <a:ea typeface="Calibri" pitchFamily="34" charset="-122"/>
                <a:cs typeface="Calibri" pitchFamily="34" charset="-120"/>
              </a:rPr>
              <a:t>Project Resilience-Alpha</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F38"/>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1C9BB0"/>
                </a:solidFill>
                <a:latin typeface="Calibri" pitchFamily="34" charset="0"/>
                <a:ea typeface="Calibri" pitchFamily="34" charset="-122"/>
                <a:cs typeface="Calibri" pitchFamily="34" charset="-120"/>
              </a:rPr>
              <a:t>3 · ARCHITECTURE</a:t>
            </a:r>
            <a:endParaRPr lang="en-US" sz="1200" dirty="0"/>
          </a:p>
        </p:txBody>
      </p:sp>
      <p:sp>
        <p:nvSpPr>
          <p:cNvPr id="3" name="Text 1"/>
          <p:cNvSpPr txBox="1"/>
          <p:nvPr/>
        </p:nvSpPr>
        <p:spPr>
          <a:xfrm>
            <a:off x="548640" y="749808"/>
            <a:ext cx="11094415" cy="82296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Flux et composants</a:t>
            </a:r>
            <a:endParaRPr lang="en-US" sz="3200" dirty="0"/>
          </a:p>
        </p:txBody>
      </p:sp>
      <p:sp>
        <p:nvSpPr>
          <p:cNvPr id="4" name="Shape 2"/>
          <p:cNvSpPr/>
          <p:nvPr/>
        </p:nvSpPr>
        <p:spPr>
          <a:xfrm>
            <a:off x="548640" y="2011680"/>
            <a:ext cx="2103120" cy="777240"/>
          </a:xfrm>
          <a:prstGeom prst="roundRect">
            <a:avLst>
              <a:gd name="adj" fmla="val 7059"/>
            </a:avLst>
          </a:prstGeom>
          <a:solidFill>
            <a:srgbClr val="3A1E24"/>
          </a:solidFill>
          <a:ln w="12700">
            <a:solidFill>
              <a:srgbClr val="1C9BB0"/>
            </a:solidFill>
            <a:prstDash val="solid"/>
          </a:ln>
        </p:spPr>
      </p:sp>
      <p:sp>
        <p:nvSpPr>
          <p:cNvPr id="5" name="Text 3"/>
          <p:cNvSpPr txBox="1"/>
          <p:nvPr/>
        </p:nvSpPr>
        <p:spPr>
          <a:xfrm>
            <a:off x="658368" y="2084832"/>
            <a:ext cx="1883664"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PC Attaquant</a:t>
            </a:r>
            <a:endParaRPr lang="en-US" sz="1250" dirty="0"/>
          </a:p>
        </p:txBody>
      </p:sp>
      <p:sp>
        <p:nvSpPr>
          <p:cNvPr id="6" name="Text 4"/>
          <p:cNvSpPr txBox="1"/>
          <p:nvPr/>
        </p:nvSpPr>
        <p:spPr>
          <a:xfrm>
            <a:off x="658368" y="2395728"/>
            <a:ext cx="1883664" cy="274320"/>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scripts Red Team</a:t>
            </a:r>
            <a:endParaRPr lang="en-US" sz="950" dirty="0"/>
          </a:p>
        </p:txBody>
      </p:sp>
      <p:sp>
        <p:nvSpPr>
          <p:cNvPr id="7" name="Shape 5"/>
          <p:cNvSpPr/>
          <p:nvPr/>
        </p:nvSpPr>
        <p:spPr>
          <a:xfrm>
            <a:off x="3200400" y="2011680"/>
            <a:ext cx="1737360" cy="777240"/>
          </a:xfrm>
          <a:prstGeom prst="roundRect">
            <a:avLst>
              <a:gd name="adj" fmla="val 7059"/>
            </a:avLst>
          </a:prstGeom>
          <a:solidFill>
            <a:srgbClr val="17304F"/>
          </a:solidFill>
          <a:ln w="12700">
            <a:solidFill>
              <a:srgbClr val="1C9BB0"/>
            </a:solidFill>
            <a:prstDash val="solid"/>
          </a:ln>
        </p:spPr>
      </p:sp>
      <p:sp>
        <p:nvSpPr>
          <p:cNvPr id="8" name="Text 6"/>
          <p:cNvSpPr txBox="1"/>
          <p:nvPr/>
        </p:nvSpPr>
        <p:spPr>
          <a:xfrm>
            <a:off x="3310128" y="2084832"/>
            <a:ext cx="1517904"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WAF (nginx)</a:t>
            </a:r>
            <a:endParaRPr lang="en-US" sz="1250" dirty="0"/>
          </a:p>
        </p:txBody>
      </p:sp>
      <p:sp>
        <p:nvSpPr>
          <p:cNvPr id="9" name="Text 7"/>
          <p:cNvSpPr txBox="1"/>
          <p:nvPr/>
        </p:nvSpPr>
        <p:spPr>
          <a:xfrm>
            <a:off x="3310128" y="2395728"/>
            <a:ext cx="1517904" cy="274320"/>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point d'entrée</a:t>
            </a:r>
            <a:endParaRPr lang="en-US" sz="950" dirty="0"/>
          </a:p>
        </p:txBody>
      </p:sp>
      <p:sp>
        <p:nvSpPr>
          <p:cNvPr id="10" name="Shape 8"/>
          <p:cNvSpPr/>
          <p:nvPr/>
        </p:nvSpPr>
        <p:spPr>
          <a:xfrm>
            <a:off x="5577840" y="1508760"/>
            <a:ext cx="2011680" cy="731520"/>
          </a:xfrm>
          <a:prstGeom prst="roundRect">
            <a:avLst>
              <a:gd name="adj" fmla="val 7500"/>
            </a:avLst>
          </a:prstGeom>
          <a:solidFill>
            <a:srgbClr val="17304F"/>
          </a:solidFill>
          <a:ln w="12700">
            <a:solidFill>
              <a:srgbClr val="1C9BB0"/>
            </a:solidFill>
            <a:prstDash val="solid"/>
          </a:ln>
        </p:spPr>
      </p:sp>
      <p:sp>
        <p:nvSpPr>
          <p:cNvPr id="11" name="Text 9"/>
          <p:cNvSpPr txBox="1"/>
          <p:nvPr/>
        </p:nvSpPr>
        <p:spPr>
          <a:xfrm>
            <a:off x="5687568" y="1581912"/>
            <a:ext cx="1792224"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Vitrine web</a:t>
            </a:r>
            <a:endParaRPr lang="en-US" sz="1250" dirty="0"/>
          </a:p>
        </p:txBody>
      </p:sp>
      <p:sp>
        <p:nvSpPr>
          <p:cNvPr id="12" name="Text 10"/>
          <p:cNvSpPr txBox="1"/>
          <p:nvPr/>
        </p:nvSpPr>
        <p:spPr>
          <a:xfrm>
            <a:off x="5687568" y="1892808"/>
            <a:ext cx="1792224" cy="274320"/>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React/Tailwind</a:t>
            </a:r>
            <a:endParaRPr lang="en-US" sz="950" dirty="0"/>
          </a:p>
        </p:txBody>
      </p:sp>
      <p:sp>
        <p:nvSpPr>
          <p:cNvPr id="13" name="Shape 11"/>
          <p:cNvSpPr/>
          <p:nvPr/>
        </p:nvSpPr>
        <p:spPr>
          <a:xfrm>
            <a:off x="5577840" y="2423160"/>
            <a:ext cx="2011680" cy="731520"/>
          </a:xfrm>
          <a:prstGeom prst="roundRect">
            <a:avLst>
              <a:gd name="adj" fmla="val 7500"/>
            </a:avLst>
          </a:prstGeom>
          <a:solidFill>
            <a:srgbClr val="17304F"/>
          </a:solidFill>
          <a:ln w="12700">
            <a:solidFill>
              <a:srgbClr val="1C9BB0"/>
            </a:solidFill>
            <a:prstDash val="solid"/>
          </a:ln>
        </p:spPr>
      </p:sp>
      <p:sp>
        <p:nvSpPr>
          <p:cNvPr id="14" name="Text 12"/>
          <p:cNvSpPr txBox="1"/>
          <p:nvPr/>
        </p:nvSpPr>
        <p:spPr>
          <a:xfrm>
            <a:off x="5687568" y="2496312"/>
            <a:ext cx="1792224"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API paiement</a:t>
            </a:r>
            <a:endParaRPr lang="en-US" sz="1250" dirty="0"/>
          </a:p>
        </p:txBody>
      </p:sp>
      <p:sp>
        <p:nvSpPr>
          <p:cNvPr id="15" name="Text 13"/>
          <p:cNvSpPr txBox="1"/>
          <p:nvPr/>
        </p:nvSpPr>
        <p:spPr>
          <a:xfrm>
            <a:off x="5687568" y="2807208"/>
            <a:ext cx="1792224" cy="274320"/>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FastAPI</a:t>
            </a:r>
            <a:endParaRPr lang="en-US" sz="950" dirty="0"/>
          </a:p>
        </p:txBody>
      </p:sp>
      <p:sp>
        <p:nvSpPr>
          <p:cNvPr id="16" name="Shape 14"/>
          <p:cNvSpPr/>
          <p:nvPr/>
        </p:nvSpPr>
        <p:spPr>
          <a:xfrm>
            <a:off x="5577840" y="3337560"/>
            <a:ext cx="2011680" cy="731520"/>
          </a:xfrm>
          <a:prstGeom prst="roundRect">
            <a:avLst>
              <a:gd name="adj" fmla="val 7500"/>
            </a:avLst>
          </a:prstGeom>
          <a:solidFill>
            <a:srgbClr val="17304F"/>
          </a:solidFill>
          <a:ln w="12700">
            <a:solidFill>
              <a:srgbClr val="1C9BB0"/>
            </a:solidFill>
            <a:prstDash val="solid"/>
          </a:ln>
        </p:spPr>
      </p:sp>
      <p:sp>
        <p:nvSpPr>
          <p:cNvPr id="17" name="Text 15"/>
          <p:cNvSpPr txBox="1"/>
          <p:nvPr/>
        </p:nvSpPr>
        <p:spPr>
          <a:xfrm>
            <a:off x="5687568" y="3410712"/>
            <a:ext cx="1792224"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Auth (JWT)</a:t>
            </a:r>
            <a:endParaRPr lang="en-US" sz="1250" dirty="0"/>
          </a:p>
        </p:txBody>
      </p:sp>
      <p:sp>
        <p:nvSpPr>
          <p:cNvPr id="18" name="Shape 16"/>
          <p:cNvSpPr/>
          <p:nvPr/>
        </p:nvSpPr>
        <p:spPr>
          <a:xfrm>
            <a:off x="8229600" y="2423160"/>
            <a:ext cx="1737360" cy="731520"/>
          </a:xfrm>
          <a:prstGeom prst="roundRect">
            <a:avLst>
              <a:gd name="adj" fmla="val 7500"/>
            </a:avLst>
          </a:prstGeom>
          <a:solidFill>
            <a:srgbClr val="17304F"/>
          </a:solidFill>
          <a:ln w="12700">
            <a:solidFill>
              <a:srgbClr val="1C9BB0"/>
            </a:solidFill>
            <a:prstDash val="solid"/>
          </a:ln>
        </p:spPr>
      </p:sp>
      <p:sp>
        <p:nvSpPr>
          <p:cNvPr id="19" name="Text 17"/>
          <p:cNvSpPr txBox="1"/>
          <p:nvPr/>
        </p:nvSpPr>
        <p:spPr>
          <a:xfrm>
            <a:off x="8339328" y="2496312"/>
            <a:ext cx="1517904"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PostgreSQL</a:t>
            </a:r>
            <a:endParaRPr lang="en-US" sz="1250" dirty="0"/>
          </a:p>
        </p:txBody>
      </p:sp>
      <p:sp>
        <p:nvSpPr>
          <p:cNvPr id="20" name="Text 18"/>
          <p:cNvSpPr txBox="1"/>
          <p:nvPr/>
        </p:nvSpPr>
        <p:spPr>
          <a:xfrm>
            <a:off x="8339328" y="2807208"/>
            <a:ext cx="1517904" cy="274320"/>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réseau interne</a:t>
            </a:r>
            <a:endParaRPr lang="en-US" sz="950" dirty="0"/>
          </a:p>
        </p:txBody>
      </p:sp>
      <p:sp>
        <p:nvSpPr>
          <p:cNvPr id="21" name="Shape 19"/>
          <p:cNvSpPr/>
          <p:nvPr/>
        </p:nvSpPr>
        <p:spPr>
          <a:xfrm>
            <a:off x="5577840" y="4572000"/>
            <a:ext cx="2011680" cy="731520"/>
          </a:xfrm>
          <a:prstGeom prst="roundRect">
            <a:avLst>
              <a:gd name="adj" fmla="val 7500"/>
            </a:avLst>
          </a:prstGeom>
          <a:solidFill>
            <a:srgbClr val="123B36"/>
          </a:solidFill>
          <a:ln w="12700">
            <a:solidFill>
              <a:srgbClr val="1C9BB0"/>
            </a:solidFill>
            <a:prstDash val="solid"/>
          </a:ln>
        </p:spPr>
      </p:sp>
      <p:sp>
        <p:nvSpPr>
          <p:cNvPr id="22" name="Text 20"/>
          <p:cNvSpPr txBox="1"/>
          <p:nvPr/>
        </p:nvSpPr>
        <p:spPr>
          <a:xfrm>
            <a:off x="5687568" y="4645152"/>
            <a:ext cx="1792224"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Détection ML</a:t>
            </a:r>
            <a:endParaRPr lang="en-US" sz="1250" dirty="0"/>
          </a:p>
        </p:txBody>
      </p:sp>
      <p:sp>
        <p:nvSpPr>
          <p:cNvPr id="23" name="Text 21"/>
          <p:cNvSpPr txBox="1"/>
          <p:nvPr/>
        </p:nvSpPr>
        <p:spPr>
          <a:xfrm>
            <a:off x="5687568" y="4956048"/>
            <a:ext cx="1792224" cy="274320"/>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anomalies</a:t>
            </a:r>
            <a:endParaRPr lang="en-US" sz="950" dirty="0"/>
          </a:p>
        </p:txBody>
      </p:sp>
      <p:sp>
        <p:nvSpPr>
          <p:cNvPr id="24" name="Shape 22"/>
          <p:cNvSpPr/>
          <p:nvPr/>
        </p:nvSpPr>
        <p:spPr>
          <a:xfrm>
            <a:off x="8229600" y="4572000"/>
            <a:ext cx="1737360" cy="731520"/>
          </a:xfrm>
          <a:prstGeom prst="roundRect">
            <a:avLst>
              <a:gd name="adj" fmla="val 7500"/>
            </a:avLst>
          </a:prstGeom>
          <a:solidFill>
            <a:srgbClr val="3A2E16"/>
          </a:solidFill>
          <a:ln w="12700">
            <a:solidFill>
              <a:srgbClr val="1C9BB0"/>
            </a:solidFill>
            <a:prstDash val="solid"/>
          </a:ln>
        </p:spPr>
      </p:sp>
      <p:sp>
        <p:nvSpPr>
          <p:cNvPr id="25" name="Text 23"/>
          <p:cNvSpPr txBox="1"/>
          <p:nvPr/>
        </p:nvSpPr>
        <p:spPr>
          <a:xfrm>
            <a:off x="8339328" y="4645152"/>
            <a:ext cx="1517904"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Remédiation</a:t>
            </a:r>
            <a:endParaRPr lang="en-US" sz="1250" dirty="0"/>
          </a:p>
        </p:txBody>
      </p:sp>
      <p:sp>
        <p:nvSpPr>
          <p:cNvPr id="26" name="Text 24"/>
          <p:cNvSpPr txBox="1"/>
          <p:nvPr/>
        </p:nvSpPr>
        <p:spPr>
          <a:xfrm>
            <a:off x="8339328" y="4956048"/>
            <a:ext cx="1517904" cy="274320"/>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reprise auto</a:t>
            </a:r>
            <a:endParaRPr lang="en-US" sz="950" dirty="0"/>
          </a:p>
        </p:txBody>
      </p:sp>
      <p:sp>
        <p:nvSpPr>
          <p:cNvPr id="27" name="Shape 25"/>
          <p:cNvSpPr/>
          <p:nvPr/>
        </p:nvSpPr>
        <p:spPr>
          <a:xfrm>
            <a:off x="10149840" y="2423160"/>
            <a:ext cx="1463040" cy="731520"/>
          </a:xfrm>
          <a:prstGeom prst="roundRect">
            <a:avLst>
              <a:gd name="adj" fmla="val 7500"/>
            </a:avLst>
          </a:prstGeom>
          <a:solidFill>
            <a:srgbClr val="17304F"/>
          </a:solidFill>
          <a:ln w="12700">
            <a:solidFill>
              <a:srgbClr val="1C9BB0"/>
            </a:solidFill>
            <a:prstDash val="solid"/>
          </a:ln>
        </p:spPr>
      </p:sp>
      <p:sp>
        <p:nvSpPr>
          <p:cNvPr id="28" name="Text 26"/>
          <p:cNvSpPr txBox="1"/>
          <p:nvPr/>
        </p:nvSpPr>
        <p:spPr>
          <a:xfrm>
            <a:off x="10259568" y="2496312"/>
            <a:ext cx="1243584"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Observabilité</a:t>
            </a:r>
            <a:endParaRPr lang="en-US" sz="1250" dirty="0"/>
          </a:p>
        </p:txBody>
      </p:sp>
      <p:sp>
        <p:nvSpPr>
          <p:cNvPr id="29" name="Text 27"/>
          <p:cNvSpPr txBox="1"/>
          <p:nvPr/>
        </p:nvSpPr>
        <p:spPr>
          <a:xfrm>
            <a:off x="10259568" y="2807208"/>
            <a:ext cx="1243584" cy="274320"/>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Prom/Grafana/Loki</a:t>
            </a:r>
            <a:endParaRPr lang="en-US" sz="950" dirty="0"/>
          </a:p>
        </p:txBody>
      </p:sp>
      <p:sp>
        <p:nvSpPr>
          <p:cNvPr id="30" name="Shape 28"/>
          <p:cNvSpPr/>
          <p:nvPr/>
        </p:nvSpPr>
        <p:spPr>
          <a:xfrm>
            <a:off x="10149840" y="4572000"/>
            <a:ext cx="1463040" cy="731520"/>
          </a:xfrm>
          <a:prstGeom prst="roundRect">
            <a:avLst>
              <a:gd name="adj" fmla="val 7500"/>
            </a:avLst>
          </a:prstGeom>
          <a:solidFill>
            <a:srgbClr val="17304F"/>
          </a:solidFill>
          <a:ln w="12700">
            <a:solidFill>
              <a:srgbClr val="1C9BB0"/>
            </a:solidFill>
            <a:prstDash val="solid"/>
          </a:ln>
        </p:spPr>
      </p:sp>
      <p:sp>
        <p:nvSpPr>
          <p:cNvPr id="31" name="Text 29"/>
          <p:cNvSpPr txBox="1"/>
          <p:nvPr/>
        </p:nvSpPr>
        <p:spPr>
          <a:xfrm>
            <a:off x="10259568" y="4645152"/>
            <a:ext cx="1243584"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Dashboard</a:t>
            </a:r>
            <a:endParaRPr lang="en-US" sz="1250" dirty="0"/>
          </a:p>
        </p:txBody>
      </p:sp>
      <p:sp>
        <p:nvSpPr>
          <p:cNvPr id="32" name="Text 30"/>
          <p:cNvSpPr txBox="1"/>
          <p:nvPr/>
        </p:nvSpPr>
        <p:spPr>
          <a:xfrm>
            <a:off x="10259568" y="4956048"/>
            <a:ext cx="1243584" cy="274320"/>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supervision</a:t>
            </a:r>
            <a:endParaRPr lang="en-US" sz="950" dirty="0"/>
          </a:p>
        </p:txBody>
      </p:sp>
      <p:sp>
        <p:nvSpPr>
          <p:cNvPr id="33" name="Shape 31"/>
          <p:cNvSpPr/>
          <p:nvPr/>
        </p:nvSpPr>
        <p:spPr>
          <a:xfrm>
            <a:off x="2103120" y="2377440"/>
            <a:ext cx="1097280" cy="0"/>
          </a:xfrm>
          <a:prstGeom prst="line">
            <a:avLst/>
          </a:prstGeom>
          <a:noFill/>
          <a:ln w="19050">
            <a:solidFill>
              <a:srgbClr val="E0574E"/>
            </a:solidFill>
            <a:prstDash val="solid"/>
            <a:tailEnd type="triangle"/>
          </a:ln>
        </p:spPr>
      </p:sp>
      <p:sp>
        <p:nvSpPr>
          <p:cNvPr id="34" name="Shape 32"/>
          <p:cNvSpPr/>
          <p:nvPr/>
        </p:nvSpPr>
        <p:spPr>
          <a:xfrm>
            <a:off x="4937760" y="2377440"/>
            <a:ext cx="640080" cy="-502920"/>
          </a:xfrm>
          <a:prstGeom prst="line">
            <a:avLst/>
          </a:prstGeom>
          <a:noFill/>
          <a:ln w="19050">
            <a:solidFill>
              <a:srgbClr val="1C9BB0"/>
            </a:solidFill>
            <a:prstDash val="solid"/>
            <a:tailEnd type="triangle"/>
          </a:ln>
        </p:spPr>
      </p:sp>
      <p:sp>
        <p:nvSpPr>
          <p:cNvPr id="35" name="Shape 33"/>
          <p:cNvSpPr/>
          <p:nvPr/>
        </p:nvSpPr>
        <p:spPr>
          <a:xfrm>
            <a:off x="4937760" y="2423160"/>
            <a:ext cx="640080" cy="365760"/>
          </a:xfrm>
          <a:prstGeom prst="line">
            <a:avLst/>
          </a:prstGeom>
          <a:noFill/>
          <a:ln w="19050">
            <a:solidFill>
              <a:srgbClr val="1C9BB0"/>
            </a:solidFill>
            <a:prstDash val="solid"/>
            <a:tailEnd type="triangle"/>
          </a:ln>
        </p:spPr>
      </p:sp>
      <p:sp>
        <p:nvSpPr>
          <p:cNvPr id="36" name="Shape 34"/>
          <p:cNvSpPr/>
          <p:nvPr/>
        </p:nvSpPr>
        <p:spPr>
          <a:xfrm>
            <a:off x="4937760" y="2651760"/>
            <a:ext cx="640080" cy="1005840"/>
          </a:xfrm>
          <a:prstGeom prst="line">
            <a:avLst/>
          </a:prstGeom>
          <a:noFill/>
          <a:ln w="19050">
            <a:solidFill>
              <a:srgbClr val="1C9BB0"/>
            </a:solidFill>
            <a:prstDash val="solid"/>
            <a:tailEnd type="triangle"/>
          </a:ln>
        </p:spPr>
      </p:sp>
      <p:sp>
        <p:nvSpPr>
          <p:cNvPr id="37" name="Shape 35"/>
          <p:cNvSpPr/>
          <p:nvPr/>
        </p:nvSpPr>
        <p:spPr>
          <a:xfrm>
            <a:off x="7589520" y="2788920"/>
            <a:ext cx="640080" cy="0"/>
          </a:xfrm>
          <a:prstGeom prst="line">
            <a:avLst/>
          </a:prstGeom>
          <a:noFill/>
          <a:ln w="19050">
            <a:solidFill>
              <a:srgbClr val="1C9BB0"/>
            </a:solidFill>
            <a:prstDash val="solid"/>
            <a:tailEnd type="triangle"/>
          </a:ln>
        </p:spPr>
      </p:sp>
      <p:sp>
        <p:nvSpPr>
          <p:cNvPr id="38" name="Shape 36"/>
          <p:cNvSpPr/>
          <p:nvPr/>
        </p:nvSpPr>
        <p:spPr>
          <a:xfrm>
            <a:off x="7589520" y="4937760"/>
            <a:ext cx="640080" cy="0"/>
          </a:xfrm>
          <a:prstGeom prst="line">
            <a:avLst/>
          </a:prstGeom>
          <a:noFill/>
          <a:ln w="19050">
            <a:solidFill>
              <a:srgbClr val="E6A23C"/>
            </a:solidFill>
            <a:prstDash val="solid"/>
            <a:tailEnd type="triangle"/>
          </a:ln>
        </p:spPr>
      </p:sp>
      <p:sp>
        <p:nvSpPr>
          <p:cNvPr id="39" name="Shape 37"/>
          <p:cNvSpPr/>
          <p:nvPr/>
        </p:nvSpPr>
        <p:spPr>
          <a:xfrm>
            <a:off x="9052560" y="4572000"/>
            <a:ext cx="-1463040" cy="-1417320"/>
          </a:xfrm>
          <a:prstGeom prst="line">
            <a:avLst/>
          </a:prstGeom>
          <a:noFill/>
          <a:ln w="19050">
            <a:solidFill>
              <a:srgbClr val="E6A23C"/>
            </a:solidFill>
            <a:prstDash val="solid"/>
            <a:tailEnd type="triangle"/>
          </a:ln>
        </p:spPr>
      </p:sp>
      <p:sp>
        <p:nvSpPr>
          <p:cNvPr id="40" name="Text 38"/>
          <p:cNvSpPr txBox="1"/>
          <p:nvPr/>
        </p:nvSpPr>
        <p:spPr>
          <a:xfrm>
            <a:off x="548640" y="5943600"/>
            <a:ext cx="11094415" cy="365760"/>
          </a:xfrm>
          <a:prstGeom prst="rect">
            <a:avLst/>
          </a:prstGeom>
          <a:noFill/>
          <a:ln/>
        </p:spPr>
        <p:txBody>
          <a:bodyPr wrap="square" lIns="0" tIns="0" rIns="0" bIns="0"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Seul le WAF est exposé · tous les autres services restent sur le réseau interne Docker (resilience_net)</a:t>
            </a:r>
            <a:endParaRPr lang="en-US" sz="1200" dirty="0"/>
          </a:p>
        </p:txBody>
      </p:sp>
      <p:sp>
        <p:nvSpPr>
          <p:cNvPr id="41" name="Text 39"/>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63707E"/>
                </a:solidFill>
                <a:latin typeface="Calibri" pitchFamily="34" charset="0"/>
                <a:ea typeface="Calibri" pitchFamily="34" charset="-122"/>
                <a:cs typeface="Calibri" pitchFamily="34" charset="-120"/>
              </a:rPr>
              <a:t>05</a:t>
            </a:r>
            <a:endParaRPr lang="en-US" sz="1000" dirty="0"/>
          </a:p>
        </p:txBody>
      </p:sp>
      <p:sp>
        <p:nvSpPr>
          <p:cNvPr id="42" name="Text 40"/>
          <p:cNvSpPr txBox="1"/>
          <p:nvPr/>
        </p:nvSpPr>
        <p:spPr>
          <a:xfrm>
            <a:off x="548640" y="6400800"/>
            <a:ext cx="4572000" cy="274320"/>
          </a:xfrm>
          <a:prstGeom prst="rect">
            <a:avLst/>
          </a:prstGeom>
          <a:noFill/>
          <a:ln/>
        </p:spPr>
        <p:txBody>
          <a:bodyPr wrap="square" lIns="0" tIns="0" rIns="0" bIns="0" rtlCol="0" anchor="ctr"/>
          <a:lstStyle/>
          <a:p>
            <a:pPr indent="0" marL="0">
              <a:buNone/>
            </a:pPr>
            <a:r>
              <a:rPr lang="en-US" sz="900" dirty="0">
                <a:solidFill>
                  <a:srgbClr val="63707E"/>
                </a:solidFill>
                <a:latin typeface="Calibri" pitchFamily="34" charset="0"/>
                <a:ea typeface="Calibri" pitchFamily="34" charset="-122"/>
                <a:cs typeface="Calibri" pitchFamily="34" charset="-120"/>
              </a:rPr>
              <a:t>Project Resilience-Alpha</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1C9BB0"/>
                </a:solidFill>
                <a:latin typeface="Calibri" pitchFamily="34" charset="0"/>
                <a:ea typeface="Calibri" pitchFamily="34" charset="-122"/>
                <a:cs typeface="Calibri" pitchFamily="34" charset="-120"/>
              </a:rPr>
              <a:t>DOMAINE · DÉVELOPPEMENT</a:t>
            </a:r>
            <a:endParaRPr lang="en-US" sz="1200" dirty="0"/>
          </a:p>
        </p:txBody>
      </p:sp>
      <p:sp>
        <p:nvSpPr>
          <p:cNvPr id="3" name="Text 1"/>
          <p:cNvSpPr txBox="1"/>
          <p:nvPr/>
        </p:nvSpPr>
        <p:spPr>
          <a:xfrm>
            <a:off x="548640" y="749808"/>
            <a:ext cx="11094415" cy="822960"/>
          </a:xfrm>
          <a:prstGeom prst="rect">
            <a:avLst/>
          </a:prstGeom>
          <a:noFill/>
          <a:ln/>
        </p:spPr>
        <p:txBody>
          <a:bodyPr wrap="square" lIns="0" tIns="0" rIns="0" bIns="0" rtlCol="0" anchor="ctr"/>
          <a:lstStyle/>
          <a:p>
            <a:pPr indent="0" marL="0">
              <a:buNone/>
            </a:pPr>
            <a:r>
              <a:rPr lang="en-US" sz="3200" b="1" dirty="0">
                <a:solidFill>
                  <a:srgbClr val="1B2733"/>
                </a:solidFill>
                <a:latin typeface="Calibri" pitchFamily="34" charset="0"/>
                <a:ea typeface="Calibri" pitchFamily="34" charset="-122"/>
                <a:cs typeface="Calibri" pitchFamily="34" charset="-120"/>
              </a:rPr>
              <a:t>Un vrai processus métier de paiement</a:t>
            </a:r>
            <a:endParaRPr lang="en-US" sz="3200" dirty="0"/>
          </a:p>
        </p:txBody>
      </p:sp>
      <p:sp>
        <p:nvSpPr>
          <p:cNvPr id="4" name="Shape 2"/>
          <p:cNvSpPr/>
          <p:nvPr/>
        </p:nvSpPr>
        <p:spPr>
          <a:xfrm>
            <a:off x="548640" y="1828800"/>
            <a:ext cx="502920" cy="502920"/>
          </a:xfrm>
          <a:prstGeom prst="ellipse">
            <a:avLst/>
          </a:prstGeom>
          <a:solidFill>
            <a:srgbClr val="1C9BB0"/>
          </a:solidFill>
          <a:ln/>
        </p:spPr>
      </p:sp>
      <p:sp>
        <p:nvSpPr>
          <p:cNvPr id="5" name="Text 3"/>
          <p:cNvSpPr txBox="1"/>
          <p:nvPr/>
        </p:nvSpPr>
        <p:spPr>
          <a:xfrm>
            <a:off x="548640" y="181051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280160" y="1783080"/>
            <a:ext cx="4937760" cy="365760"/>
          </a:xfrm>
          <a:prstGeom prst="rect">
            <a:avLst/>
          </a:prstGeom>
          <a:noFill/>
          <a:ln/>
        </p:spPr>
        <p:txBody>
          <a:bodyPr wrap="square" lIns="0" tIns="0" rIns="0" bIns="0" rtlCol="0" anchor="ctr"/>
          <a:lstStyle/>
          <a:p>
            <a:pPr indent="0" marL="0">
              <a:buNone/>
            </a:pPr>
            <a:r>
              <a:rPr lang="en-US" sz="1600" b="1" dirty="0">
                <a:solidFill>
                  <a:srgbClr val="1B2733"/>
                </a:solidFill>
                <a:latin typeface="Calibri" pitchFamily="34" charset="0"/>
                <a:ea typeface="Calibri" pitchFamily="34" charset="-122"/>
                <a:cs typeface="Calibri" pitchFamily="34" charset="-120"/>
              </a:rPr>
              <a:t>API métier (FastAPI)</a:t>
            </a:r>
            <a:endParaRPr lang="en-US" sz="1600" dirty="0"/>
          </a:p>
        </p:txBody>
      </p:sp>
      <p:sp>
        <p:nvSpPr>
          <p:cNvPr id="7" name="Text 5"/>
          <p:cNvSpPr txBox="1"/>
          <p:nvPr/>
        </p:nvSpPr>
        <p:spPr>
          <a:xfrm>
            <a:off x="1280160" y="2130552"/>
            <a:ext cx="5120640" cy="685800"/>
          </a:xfrm>
          <a:prstGeom prst="rect">
            <a:avLst/>
          </a:prstGeom>
          <a:noFill/>
          <a:ln/>
        </p:spPr>
        <p:txBody>
          <a:bodyPr wrap="square" lIns="0" tIns="0" rIns="0" bIns="0" rtlCol="0" anchor="ctr"/>
          <a:lstStyle/>
          <a:p>
            <a:pPr indent="0" marL="0">
              <a:buNone/>
            </a:pPr>
            <a:r>
              <a:rPr lang="en-US" sz="1250" dirty="0">
                <a:solidFill>
                  <a:srgbClr val="63707E"/>
                </a:solidFill>
                <a:latin typeface="Calibri" pitchFamily="34" charset="0"/>
                <a:ea typeface="Calibri" pitchFamily="34" charset="-122"/>
                <a:cs typeface="Calibri" pitchFamily="34" charset="-120"/>
              </a:rPr>
              <a:t>Création de comptes et exécution de transactions atomiques : débit/crédit sous verrou, cohérence ACID garantie par la base.</a:t>
            </a:r>
            <a:endParaRPr lang="en-US" sz="1250" dirty="0"/>
          </a:p>
        </p:txBody>
      </p:sp>
      <p:sp>
        <p:nvSpPr>
          <p:cNvPr id="8" name="Shape 6"/>
          <p:cNvSpPr/>
          <p:nvPr/>
        </p:nvSpPr>
        <p:spPr>
          <a:xfrm>
            <a:off x="548640" y="2880360"/>
            <a:ext cx="502920" cy="502920"/>
          </a:xfrm>
          <a:prstGeom prst="ellipse">
            <a:avLst/>
          </a:prstGeom>
          <a:solidFill>
            <a:srgbClr val="1C9BB0"/>
          </a:solidFill>
          <a:ln/>
        </p:spPr>
      </p:sp>
      <p:sp>
        <p:nvSpPr>
          <p:cNvPr id="9" name="Text 7"/>
          <p:cNvSpPr txBox="1"/>
          <p:nvPr/>
        </p:nvSpPr>
        <p:spPr>
          <a:xfrm>
            <a:off x="548640" y="286207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280160" y="2834640"/>
            <a:ext cx="4937760" cy="365760"/>
          </a:xfrm>
          <a:prstGeom prst="rect">
            <a:avLst/>
          </a:prstGeom>
          <a:noFill/>
          <a:ln/>
        </p:spPr>
        <p:txBody>
          <a:bodyPr wrap="square" lIns="0" tIns="0" rIns="0" bIns="0" rtlCol="0" anchor="ctr"/>
          <a:lstStyle/>
          <a:p>
            <a:pPr indent="0" marL="0">
              <a:buNone/>
            </a:pPr>
            <a:r>
              <a:rPr lang="en-US" sz="1600" b="1" dirty="0">
                <a:solidFill>
                  <a:srgbClr val="1B2733"/>
                </a:solidFill>
                <a:latin typeface="Calibri" pitchFamily="34" charset="0"/>
                <a:ea typeface="Calibri" pitchFamily="34" charset="-122"/>
                <a:cs typeface="Calibri" pitchFamily="34" charset="-120"/>
              </a:rPr>
              <a:t>Authentification (JWT)</a:t>
            </a:r>
            <a:endParaRPr lang="en-US" sz="1600" dirty="0"/>
          </a:p>
        </p:txBody>
      </p:sp>
      <p:sp>
        <p:nvSpPr>
          <p:cNvPr id="11" name="Text 9"/>
          <p:cNvSpPr txBox="1"/>
          <p:nvPr/>
        </p:nvSpPr>
        <p:spPr>
          <a:xfrm>
            <a:off x="1280160" y="3182112"/>
            <a:ext cx="5120640" cy="685800"/>
          </a:xfrm>
          <a:prstGeom prst="rect">
            <a:avLst/>
          </a:prstGeom>
          <a:noFill/>
          <a:ln/>
        </p:spPr>
        <p:txBody>
          <a:bodyPr wrap="square" lIns="0" tIns="0" rIns="0" bIns="0" rtlCol="0" anchor="ctr"/>
          <a:lstStyle/>
          <a:p>
            <a:pPr indent="0" marL="0">
              <a:buNone/>
            </a:pPr>
            <a:r>
              <a:rPr lang="en-US" sz="1250" dirty="0">
                <a:solidFill>
                  <a:srgbClr val="63707E"/>
                </a:solidFill>
                <a:latin typeface="Calibri" pitchFamily="34" charset="0"/>
                <a:ea typeface="Calibri" pitchFamily="34" charset="-122"/>
                <a:cs typeface="Calibri" pitchFamily="34" charset="-120"/>
              </a:rPr>
              <a:t>Jetons signés à courte durée ; l'API vérifie chaque transaction auprès du service auth.</a:t>
            </a:r>
            <a:endParaRPr lang="en-US" sz="1250" dirty="0"/>
          </a:p>
        </p:txBody>
      </p:sp>
      <p:sp>
        <p:nvSpPr>
          <p:cNvPr id="12" name="Shape 10"/>
          <p:cNvSpPr/>
          <p:nvPr/>
        </p:nvSpPr>
        <p:spPr>
          <a:xfrm>
            <a:off x="548640" y="3931920"/>
            <a:ext cx="502920" cy="502920"/>
          </a:xfrm>
          <a:prstGeom prst="ellipse">
            <a:avLst/>
          </a:prstGeom>
          <a:solidFill>
            <a:srgbClr val="1C9BB0"/>
          </a:solidFill>
          <a:ln/>
        </p:spPr>
      </p:sp>
      <p:sp>
        <p:nvSpPr>
          <p:cNvPr id="13" name="Text 11"/>
          <p:cNvSpPr txBox="1"/>
          <p:nvPr/>
        </p:nvSpPr>
        <p:spPr>
          <a:xfrm>
            <a:off x="548640" y="391363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280160" y="3886200"/>
            <a:ext cx="4937760" cy="365760"/>
          </a:xfrm>
          <a:prstGeom prst="rect">
            <a:avLst/>
          </a:prstGeom>
          <a:noFill/>
          <a:ln/>
        </p:spPr>
        <p:txBody>
          <a:bodyPr wrap="square" lIns="0" tIns="0" rIns="0" bIns="0" rtlCol="0" anchor="ctr"/>
          <a:lstStyle/>
          <a:p>
            <a:pPr indent="0" marL="0">
              <a:buNone/>
            </a:pPr>
            <a:r>
              <a:rPr lang="en-US" sz="1600" b="1" dirty="0">
                <a:solidFill>
                  <a:srgbClr val="1B2733"/>
                </a:solidFill>
                <a:latin typeface="Calibri" pitchFamily="34" charset="0"/>
                <a:ea typeface="Calibri" pitchFamily="34" charset="-122"/>
                <a:cs typeface="Calibri" pitchFamily="34" charset="-120"/>
              </a:rPr>
              <a:t>Base PostgreSQL</a:t>
            </a:r>
            <a:endParaRPr lang="en-US" sz="1600" dirty="0"/>
          </a:p>
        </p:txBody>
      </p:sp>
      <p:sp>
        <p:nvSpPr>
          <p:cNvPr id="15" name="Text 13"/>
          <p:cNvSpPr txBox="1"/>
          <p:nvPr/>
        </p:nvSpPr>
        <p:spPr>
          <a:xfrm>
            <a:off x="1280160" y="4233672"/>
            <a:ext cx="5120640" cy="685800"/>
          </a:xfrm>
          <a:prstGeom prst="rect">
            <a:avLst/>
          </a:prstGeom>
          <a:noFill/>
          <a:ln/>
        </p:spPr>
        <p:txBody>
          <a:bodyPr wrap="square" lIns="0" tIns="0" rIns="0" bIns="0" rtlCol="0" anchor="ctr"/>
          <a:lstStyle/>
          <a:p>
            <a:pPr indent="0" marL="0">
              <a:buNone/>
            </a:pPr>
            <a:r>
              <a:rPr lang="en-US" sz="1250" dirty="0">
                <a:solidFill>
                  <a:srgbClr val="63707E"/>
                </a:solidFill>
                <a:latin typeface="Calibri" pitchFamily="34" charset="0"/>
                <a:ea typeface="Calibri" pitchFamily="34" charset="-122"/>
                <a:cs typeface="Calibri" pitchFamily="34" charset="-120"/>
              </a:rPr>
              <a:t>Comptes et transactions. Jamais exposée hors du réseau interne.</a:t>
            </a:r>
            <a:endParaRPr lang="en-US" sz="1250" dirty="0"/>
          </a:p>
        </p:txBody>
      </p:sp>
      <p:sp>
        <p:nvSpPr>
          <p:cNvPr id="16" name="Shape 14"/>
          <p:cNvSpPr/>
          <p:nvPr/>
        </p:nvSpPr>
        <p:spPr>
          <a:xfrm>
            <a:off x="548640" y="4983480"/>
            <a:ext cx="502920" cy="502920"/>
          </a:xfrm>
          <a:prstGeom prst="ellipse">
            <a:avLst/>
          </a:prstGeom>
          <a:solidFill>
            <a:srgbClr val="1C9BB0"/>
          </a:solidFill>
          <a:ln/>
        </p:spPr>
      </p:sp>
      <p:sp>
        <p:nvSpPr>
          <p:cNvPr id="17" name="Text 15"/>
          <p:cNvSpPr txBox="1"/>
          <p:nvPr/>
        </p:nvSpPr>
        <p:spPr>
          <a:xfrm>
            <a:off x="548640" y="496519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1280160" y="4937760"/>
            <a:ext cx="4937760" cy="365760"/>
          </a:xfrm>
          <a:prstGeom prst="rect">
            <a:avLst/>
          </a:prstGeom>
          <a:noFill/>
          <a:ln/>
        </p:spPr>
        <p:txBody>
          <a:bodyPr wrap="square" lIns="0" tIns="0" rIns="0" bIns="0" rtlCol="0" anchor="ctr"/>
          <a:lstStyle/>
          <a:p>
            <a:pPr indent="0" marL="0">
              <a:buNone/>
            </a:pPr>
            <a:r>
              <a:rPr lang="en-US" sz="1600" b="1" dirty="0">
                <a:solidFill>
                  <a:srgbClr val="1B2733"/>
                </a:solidFill>
                <a:latin typeface="Calibri" pitchFamily="34" charset="0"/>
                <a:ea typeface="Calibri" pitchFamily="34" charset="-122"/>
                <a:cs typeface="Calibri" pitchFamily="34" charset="-120"/>
              </a:rPr>
              <a:t>Vitrine &amp; dashboard (React/Tailwind)</a:t>
            </a:r>
            <a:endParaRPr lang="en-US" sz="1600" dirty="0"/>
          </a:p>
        </p:txBody>
      </p:sp>
      <p:sp>
        <p:nvSpPr>
          <p:cNvPr id="19" name="Text 17"/>
          <p:cNvSpPr txBox="1"/>
          <p:nvPr/>
        </p:nvSpPr>
        <p:spPr>
          <a:xfrm>
            <a:off x="1280160" y="5285232"/>
            <a:ext cx="5120640" cy="685800"/>
          </a:xfrm>
          <a:prstGeom prst="rect">
            <a:avLst/>
          </a:prstGeom>
          <a:noFill/>
          <a:ln/>
        </p:spPr>
        <p:txBody>
          <a:bodyPr wrap="square" lIns="0" tIns="0" rIns="0" bIns="0" rtlCol="0" anchor="ctr"/>
          <a:lstStyle/>
          <a:p>
            <a:pPr indent="0" marL="0">
              <a:buNone/>
            </a:pPr>
            <a:r>
              <a:rPr lang="en-US" sz="1250" dirty="0">
                <a:solidFill>
                  <a:srgbClr val="63707E"/>
                </a:solidFill>
                <a:latin typeface="Calibri" pitchFamily="34" charset="0"/>
                <a:ea typeface="Calibri" pitchFamily="34" charset="-122"/>
                <a:cs typeface="Calibri" pitchFamily="34" charset="-120"/>
              </a:rPr>
              <a:t>Interface de paiement + supervision temps réel de toute la chaîne.</a:t>
            </a:r>
            <a:endParaRPr lang="en-US" sz="1250" dirty="0"/>
          </a:p>
        </p:txBody>
      </p:sp>
      <p:sp>
        <p:nvSpPr>
          <p:cNvPr id="20" name="Shape 18"/>
          <p:cNvSpPr/>
          <p:nvPr/>
        </p:nvSpPr>
        <p:spPr>
          <a:xfrm>
            <a:off x="6766560" y="1828800"/>
            <a:ext cx="4876495" cy="4114800"/>
          </a:xfrm>
          <a:prstGeom prst="roundRect">
            <a:avLst>
              <a:gd name="adj" fmla="val 1778"/>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21" name="Text 19"/>
          <p:cNvSpPr txBox="1"/>
          <p:nvPr/>
        </p:nvSpPr>
        <p:spPr>
          <a:xfrm>
            <a:off x="7132320" y="2103120"/>
            <a:ext cx="4389120" cy="365760"/>
          </a:xfrm>
          <a:prstGeom prst="rect">
            <a:avLst/>
          </a:prstGeom>
          <a:noFill/>
          <a:ln/>
        </p:spPr>
        <p:txBody>
          <a:bodyPr wrap="square" lIns="0" tIns="0" rIns="0" bIns="0"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Preuve que ça marche</a:t>
            </a:r>
            <a:endParaRPr lang="en-US" sz="1500" dirty="0"/>
          </a:p>
        </p:txBody>
      </p:sp>
      <p:sp>
        <p:nvSpPr>
          <p:cNvPr id="22" name="Text 20"/>
          <p:cNvSpPr txBox="1"/>
          <p:nvPr/>
        </p:nvSpPr>
        <p:spPr>
          <a:xfrm>
            <a:off x="7132320" y="2514600"/>
            <a:ext cx="4480560" cy="2194560"/>
          </a:xfrm>
          <a:prstGeom prst="rect">
            <a:avLst/>
          </a:prstGeom>
          <a:noFill/>
          <a:ln/>
        </p:spPr>
        <p:txBody>
          <a:bodyPr wrap="square" lIns="0" tIns="0" rIns="0" bIns="0" rtlCol="0" anchor="t"/>
          <a:lstStyle/>
          <a:p>
            <a:pPr indent="0" marL="0">
              <a:buNone/>
            </a:pPr>
            <a:r>
              <a:rPr lang="en-US" sz="1300" dirty="0">
                <a:solidFill>
                  <a:srgbClr val="63707E"/>
                </a:solidFill>
              </a:rPr>
              <a:t>Transaction fictive réussie :
</a:t>
            </a:r>
            <a:endParaRPr lang="en-US" sz="1300" dirty="0"/>
          </a:p>
          <a:p>
            <a:pPr indent="0" marL="0">
              <a:buNone/>
            </a:pPr>
            <a:r>
              <a:rPr lang="en-US" sz="1300" dirty="0">
                <a:solidFill>
                  <a:srgbClr val="0E1F38"/>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0E1F38"/>
                </a:solidFill>
                <a:latin typeface="Courier New" pitchFamily="34" charset="0"/>
                <a:ea typeface="Courier New" pitchFamily="34" charset="-122"/>
                <a:cs typeface="Courier New" pitchFamily="34" charset="-120"/>
              </a:rPr>
              <a:t>  "source": "acc-client-001",</a:t>
            </a:r>
            <a:endParaRPr lang="en-US" sz="1300" dirty="0"/>
          </a:p>
          <a:p>
            <a:pPr indent="0" marL="0">
              <a:buNone/>
            </a:pPr>
            <a:r>
              <a:rPr lang="en-US" sz="1300" dirty="0">
                <a:solidFill>
                  <a:srgbClr val="0E1F38"/>
                </a:solidFill>
                <a:latin typeface="Courier New" pitchFamily="34" charset="0"/>
                <a:ea typeface="Courier New" pitchFamily="34" charset="-122"/>
                <a:cs typeface="Courier New" pitchFamily="34" charset="-120"/>
              </a:rPr>
              <a:t>  "destination": "acc-merchant-001",</a:t>
            </a:r>
            <a:endParaRPr lang="en-US" sz="1300" dirty="0"/>
          </a:p>
          <a:p>
            <a:pPr indent="0" marL="0">
              <a:buNone/>
            </a:pPr>
            <a:r>
              <a:rPr lang="en-US" sz="1300" dirty="0">
                <a:solidFill>
                  <a:srgbClr val="0E1F38"/>
                </a:solidFill>
                <a:latin typeface="Courier New" pitchFamily="34" charset="0"/>
                <a:ea typeface="Courier New" pitchFamily="34" charset="-122"/>
                <a:cs typeface="Courier New" pitchFamily="34" charset="-120"/>
              </a:rPr>
              <a:t>  "amount": "42",</a:t>
            </a:r>
            <a:endParaRPr lang="en-US" sz="1300" dirty="0"/>
          </a:p>
          <a:p>
            <a:pPr indent="0" marL="0">
              <a:buNone/>
            </a:pPr>
            <a:r>
              <a:rPr lang="en-US" sz="1300" dirty="0">
                <a:solidFill>
                  <a:srgbClr val="0E1F38"/>
                </a:solidFill>
                <a:latin typeface="Courier New" pitchFamily="34" charset="0"/>
                <a:ea typeface="Courier New" pitchFamily="34" charset="-122"/>
                <a:cs typeface="Courier New" pitchFamily="34" charset="-120"/>
              </a:rPr>
              <a:t>  "status": "settled"</a:t>
            </a:r>
            <a:endParaRPr lang="en-US" sz="1300" dirty="0"/>
          </a:p>
          <a:p>
            <a:pPr indent="0" marL="0">
              <a:buNone/>
            </a:pPr>
            <a:r>
              <a:rPr lang="en-US" sz="1300" dirty="0">
                <a:solidFill>
                  <a:srgbClr val="0E1F38"/>
                </a:solidFill>
                <a:latin typeface="Courier New" pitchFamily="34" charset="0"/>
                <a:ea typeface="Courier New" pitchFamily="34" charset="-122"/>
                <a:cs typeface="Courier New" pitchFamily="34" charset="-120"/>
              </a:rPr>
              <a:t>}</a:t>
            </a:r>
            <a:endParaRPr lang="en-US" sz="1300" dirty="0"/>
          </a:p>
        </p:txBody>
      </p:sp>
      <p:sp>
        <p:nvSpPr>
          <p:cNvPr id="23" name="Text 21"/>
          <p:cNvSpPr txBox="1"/>
          <p:nvPr/>
        </p:nvSpPr>
        <p:spPr>
          <a:xfrm>
            <a:off x="7132320" y="4937760"/>
            <a:ext cx="4480560" cy="822960"/>
          </a:xfrm>
          <a:prstGeom prst="rect">
            <a:avLst/>
          </a:prstGeom>
          <a:noFill/>
          <a:ln/>
        </p:spPr>
        <p:txBody>
          <a:bodyPr wrap="square" lIns="0" tIns="0" rIns="0" bIns="0" rtlCol="0" anchor="ctr"/>
          <a:lstStyle/>
          <a:p>
            <a:pPr indent="0" marL="0">
              <a:buNone/>
            </a:pPr>
            <a:r>
              <a:rPr lang="en-US" sz="1300" i="1" dirty="0">
                <a:solidFill>
                  <a:srgbClr val="1B2733"/>
                </a:solidFill>
                <a:latin typeface="Calibri" pitchFamily="34" charset="0"/>
                <a:ea typeface="Calibri" pitchFamily="34" charset="-122"/>
                <a:cs typeface="Calibri" pitchFamily="34" charset="-120"/>
              </a:rPr>
              <a:t>La vitrine paie le marchand de bout en bout : vitrine → WAF → API → base.</a:t>
            </a:r>
            <a:endParaRPr lang="en-US" sz="1300" dirty="0"/>
          </a:p>
        </p:txBody>
      </p:sp>
      <p:sp>
        <p:nvSpPr>
          <p:cNvPr id="24" name="Text 22"/>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63707E"/>
                </a:solidFill>
                <a:latin typeface="Calibri" pitchFamily="34" charset="0"/>
                <a:ea typeface="Calibri" pitchFamily="34" charset="-122"/>
                <a:cs typeface="Calibri" pitchFamily="34" charset="-120"/>
              </a:rPr>
              <a:t>06</a:t>
            </a:r>
            <a:endParaRPr lang="en-US" sz="1000" dirty="0"/>
          </a:p>
        </p:txBody>
      </p:sp>
      <p:sp>
        <p:nvSpPr>
          <p:cNvPr id="25" name="Text 23"/>
          <p:cNvSpPr txBox="1"/>
          <p:nvPr/>
        </p:nvSpPr>
        <p:spPr>
          <a:xfrm>
            <a:off x="548640" y="6400800"/>
            <a:ext cx="4572000" cy="274320"/>
          </a:xfrm>
          <a:prstGeom prst="rect">
            <a:avLst/>
          </a:prstGeom>
          <a:noFill/>
          <a:ln/>
        </p:spPr>
        <p:txBody>
          <a:bodyPr wrap="square" lIns="0" tIns="0" rIns="0" bIns="0" rtlCol="0" anchor="ctr"/>
          <a:lstStyle/>
          <a:p>
            <a:pPr indent="0" marL="0">
              <a:buNone/>
            </a:pPr>
            <a:r>
              <a:rPr lang="en-US" sz="900" dirty="0">
                <a:solidFill>
                  <a:srgbClr val="63707E"/>
                </a:solidFill>
                <a:latin typeface="Calibri" pitchFamily="34" charset="0"/>
                <a:ea typeface="Calibri" pitchFamily="34" charset="-122"/>
                <a:cs typeface="Calibri" pitchFamily="34" charset="-120"/>
              </a:rPr>
              <a:t>Project Resilience-Alpha</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1C9BB0"/>
                </a:solidFill>
                <a:latin typeface="Calibri" pitchFamily="34" charset="0"/>
                <a:ea typeface="Calibri" pitchFamily="34" charset="-122"/>
                <a:cs typeface="Calibri" pitchFamily="34" charset="-120"/>
              </a:rPr>
              <a:t>DOMAINE · INFRASTRUCTURE</a:t>
            </a:r>
            <a:endParaRPr lang="en-US" sz="1200" dirty="0"/>
          </a:p>
        </p:txBody>
      </p:sp>
      <p:sp>
        <p:nvSpPr>
          <p:cNvPr id="3" name="Text 1"/>
          <p:cNvSpPr txBox="1"/>
          <p:nvPr/>
        </p:nvSpPr>
        <p:spPr>
          <a:xfrm>
            <a:off x="548640" y="749808"/>
            <a:ext cx="11094415" cy="822960"/>
          </a:xfrm>
          <a:prstGeom prst="rect">
            <a:avLst/>
          </a:prstGeom>
          <a:noFill/>
          <a:ln/>
        </p:spPr>
        <p:txBody>
          <a:bodyPr wrap="square" lIns="0" tIns="0" rIns="0" bIns="0" rtlCol="0" anchor="ctr"/>
          <a:lstStyle/>
          <a:p>
            <a:pPr indent="0" marL="0">
              <a:buNone/>
            </a:pPr>
            <a:r>
              <a:rPr lang="en-US" sz="3200" b="1" dirty="0">
                <a:solidFill>
                  <a:srgbClr val="1B2733"/>
                </a:solidFill>
                <a:latin typeface="Calibri" pitchFamily="34" charset="0"/>
                <a:ea typeface="Calibri" pitchFamily="34" charset="-122"/>
                <a:cs typeface="Calibri" pitchFamily="34" charset="-120"/>
              </a:rPr>
              <a:t>Déployer, observer, rétablir</a:t>
            </a:r>
            <a:endParaRPr lang="en-US" sz="3200" dirty="0"/>
          </a:p>
        </p:txBody>
      </p:sp>
      <p:sp>
        <p:nvSpPr>
          <p:cNvPr id="4" name="Shape 2"/>
          <p:cNvSpPr/>
          <p:nvPr/>
        </p:nvSpPr>
        <p:spPr>
          <a:xfrm>
            <a:off x="548640" y="1828800"/>
            <a:ext cx="5303520" cy="4023360"/>
          </a:xfrm>
          <a:prstGeom prst="roundRect">
            <a:avLst>
              <a:gd name="adj" fmla="val 1818"/>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5" name="Shape 3"/>
          <p:cNvSpPr/>
          <p:nvPr/>
        </p:nvSpPr>
        <p:spPr>
          <a:xfrm>
            <a:off x="868680" y="2194560"/>
            <a:ext cx="548640" cy="82296"/>
          </a:xfrm>
          <a:prstGeom prst="rect">
            <a:avLst/>
          </a:prstGeom>
          <a:solidFill>
            <a:srgbClr val="1C9BB0"/>
          </a:solidFill>
          <a:ln/>
        </p:spPr>
      </p:sp>
      <p:sp>
        <p:nvSpPr>
          <p:cNvPr id="6" name="Text 4"/>
          <p:cNvSpPr txBox="1"/>
          <p:nvPr/>
        </p:nvSpPr>
        <p:spPr>
          <a:xfrm>
            <a:off x="868680" y="2331720"/>
            <a:ext cx="4663440" cy="457200"/>
          </a:xfrm>
          <a:prstGeom prst="rect">
            <a:avLst/>
          </a:prstGeom>
          <a:noFill/>
          <a:ln/>
        </p:spPr>
        <p:txBody>
          <a:bodyPr wrap="square" lIns="0" tIns="0" rIns="0" bIns="0" rtlCol="0" anchor="ctr"/>
          <a:lstStyle/>
          <a:p>
            <a:pPr indent="0" marL="0">
              <a:buNone/>
            </a:pPr>
            <a:r>
              <a:rPr lang="en-US" sz="1900" b="1" dirty="0">
                <a:solidFill>
                  <a:srgbClr val="1B2733"/>
                </a:solidFill>
                <a:latin typeface="Calibri" pitchFamily="34" charset="0"/>
                <a:ea typeface="Calibri" pitchFamily="34" charset="-122"/>
                <a:cs typeface="Calibri" pitchFamily="34" charset="-120"/>
              </a:rPr>
              <a:t>Déploiement reproductible</a:t>
            </a:r>
            <a:endParaRPr lang="en-US" sz="1900" dirty="0"/>
          </a:p>
        </p:txBody>
      </p:sp>
      <p:sp>
        <p:nvSpPr>
          <p:cNvPr id="7" name="Shape 5"/>
          <p:cNvSpPr/>
          <p:nvPr/>
        </p:nvSpPr>
        <p:spPr>
          <a:xfrm>
            <a:off x="914400" y="3090672"/>
            <a:ext cx="137160" cy="137160"/>
          </a:xfrm>
          <a:prstGeom prst="ellipse">
            <a:avLst/>
          </a:prstGeom>
          <a:solidFill>
            <a:srgbClr val="1C9BB0"/>
          </a:solidFill>
          <a:ln/>
        </p:spPr>
      </p:sp>
      <p:sp>
        <p:nvSpPr>
          <p:cNvPr id="8" name="Text 6"/>
          <p:cNvSpPr txBox="1"/>
          <p:nvPr/>
        </p:nvSpPr>
        <p:spPr>
          <a:xfrm>
            <a:off x="1188720" y="3017520"/>
            <a:ext cx="4297680" cy="777240"/>
          </a:xfrm>
          <a:prstGeom prst="rect">
            <a:avLst/>
          </a:prstGeom>
          <a:noFill/>
          <a:ln/>
        </p:spPr>
        <p:txBody>
          <a:bodyPr wrap="square" lIns="0" tIns="0" rIns="0" bIns="0" rtlCol="0" anchor="ctr"/>
          <a:lstStyle/>
          <a:p>
            <a:pPr indent="0" marL="0">
              <a:buNone/>
            </a:pPr>
            <a:r>
              <a:rPr lang="en-US" sz="1350" dirty="0">
                <a:solidFill>
                  <a:srgbClr val="1B2733"/>
                </a:solidFill>
                <a:latin typeface="Calibri" pitchFamily="34" charset="0"/>
                <a:ea typeface="Calibri" pitchFamily="34" charset="-122"/>
                <a:cs typeface="Calibri" pitchFamily="34" charset="-120"/>
              </a:rPr>
              <a:t>Docker Compose orchestre les 13 conteneurs</a:t>
            </a:r>
            <a:endParaRPr lang="en-US" sz="1350" dirty="0"/>
          </a:p>
        </p:txBody>
      </p:sp>
      <p:sp>
        <p:nvSpPr>
          <p:cNvPr id="9" name="Shape 7"/>
          <p:cNvSpPr/>
          <p:nvPr/>
        </p:nvSpPr>
        <p:spPr>
          <a:xfrm>
            <a:off x="914400" y="3959352"/>
            <a:ext cx="137160" cy="137160"/>
          </a:xfrm>
          <a:prstGeom prst="ellipse">
            <a:avLst/>
          </a:prstGeom>
          <a:solidFill>
            <a:srgbClr val="1C9BB0"/>
          </a:solidFill>
          <a:ln/>
        </p:spPr>
      </p:sp>
      <p:sp>
        <p:nvSpPr>
          <p:cNvPr id="10" name="Text 8"/>
          <p:cNvSpPr txBox="1"/>
          <p:nvPr/>
        </p:nvSpPr>
        <p:spPr>
          <a:xfrm>
            <a:off x="1188720" y="3886200"/>
            <a:ext cx="4297680" cy="777240"/>
          </a:xfrm>
          <a:prstGeom prst="rect">
            <a:avLst/>
          </a:prstGeom>
          <a:noFill/>
          <a:ln/>
        </p:spPr>
        <p:txBody>
          <a:bodyPr wrap="square" lIns="0" tIns="0" rIns="0" bIns="0" rtlCol="0" anchor="ctr"/>
          <a:lstStyle/>
          <a:p>
            <a:pPr indent="0" marL="0">
              <a:buNone/>
            </a:pPr>
            <a:r>
              <a:rPr lang="en-US" sz="1350" dirty="0">
                <a:solidFill>
                  <a:srgbClr val="1B2733"/>
                </a:solidFill>
                <a:latin typeface="Calibri" pitchFamily="34" charset="0"/>
                <a:ea typeface="Calibri" pitchFamily="34" charset="-122"/>
                <a:cs typeface="Calibri" pitchFamily="34" charset="-120"/>
              </a:rPr>
              <a:t>Playbooks Ansible pour les opérations (déploiement, redémarrage, isolation)</a:t>
            </a:r>
            <a:endParaRPr lang="en-US" sz="1350" dirty="0"/>
          </a:p>
        </p:txBody>
      </p:sp>
      <p:sp>
        <p:nvSpPr>
          <p:cNvPr id="11" name="Shape 9"/>
          <p:cNvSpPr/>
          <p:nvPr/>
        </p:nvSpPr>
        <p:spPr>
          <a:xfrm>
            <a:off x="914400" y="4828032"/>
            <a:ext cx="137160" cy="137160"/>
          </a:xfrm>
          <a:prstGeom prst="ellipse">
            <a:avLst/>
          </a:prstGeom>
          <a:solidFill>
            <a:srgbClr val="1C9BB0"/>
          </a:solidFill>
          <a:ln/>
        </p:spPr>
      </p:sp>
      <p:sp>
        <p:nvSpPr>
          <p:cNvPr id="12" name="Text 10"/>
          <p:cNvSpPr txBox="1"/>
          <p:nvPr/>
        </p:nvSpPr>
        <p:spPr>
          <a:xfrm>
            <a:off x="1188720" y="4754880"/>
            <a:ext cx="4297680" cy="777240"/>
          </a:xfrm>
          <a:prstGeom prst="rect">
            <a:avLst/>
          </a:prstGeom>
          <a:noFill/>
          <a:ln/>
        </p:spPr>
        <p:txBody>
          <a:bodyPr wrap="square" lIns="0" tIns="0" rIns="0" bIns="0" rtlCol="0" anchor="ctr"/>
          <a:lstStyle/>
          <a:p>
            <a:pPr indent="0" marL="0">
              <a:buNone/>
            </a:pPr>
            <a:r>
              <a:rPr lang="en-US" sz="1350" dirty="0">
                <a:solidFill>
                  <a:srgbClr val="1B2733"/>
                </a:solidFill>
                <a:latin typeface="Calibri" pitchFamily="34" charset="0"/>
                <a:ea typeface="Calibri" pitchFamily="34" charset="-122"/>
                <a:cs typeface="Calibri" pitchFamily="34" charset="-120"/>
              </a:rPr>
              <a:t>Tout se relance par une seule commande</a:t>
            </a:r>
            <a:endParaRPr lang="en-US" sz="1350" dirty="0"/>
          </a:p>
        </p:txBody>
      </p:sp>
      <p:sp>
        <p:nvSpPr>
          <p:cNvPr id="13" name="Shape 11"/>
          <p:cNvSpPr/>
          <p:nvPr/>
        </p:nvSpPr>
        <p:spPr>
          <a:xfrm>
            <a:off x="6217920" y="1828800"/>
            <a:ext cx="5303520" cy="4023360"/>
          </a:xfrm>
          <a:prstGeom prst="roundRect">
            <a:avLst>
              <a:gd name="adj" fmla="val 1818"/>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14" name="Shape 12"/>
          <p:cNvSpPr/>
          <p:nvPr/>
        </p:nvSpPr>
        <p:spPr>
          <a:xfrm>
            <a:off x="6537960" y="2194560"/>
            <a:ext cx="548640" cy="82296"/>
          </a:xfrm>
          <a:prstGeom prst="rect">
            <a:avLst/>
          </a:prstGeom>
          <a:solidFill>
            <a:srgbClr val="2BC39A"/>
          </a:solidFill>
          <a:ln/>
        </p:spPr>
      </p:sp>
      <p:sp>
        <p:nvSpPr>
          <p:cNvPr id="15" name="Text 13"/>
          <p:cNvSpPr txBox="1"/>
          <p:nvPr/>
        </p:nvSpPr>
        <p:spPr>
          <a:xfrm>
            <a:off x="6537960" y="2331720"/>
            <a:ext cx="4663440" cy="457200"/>
          </a:xfrm>
          <a:prstGeom prst="rect">
            <a:avLst/>
          </a:prstGeom>
          <a:noFill/>
          <a:ln/>
        </p:spPr>
        <p:txBody>
          <a:bodyPr wrap="square" lIns="0" tIns="0" rIns="0" bIns="0" rtlCol="0" anchor="ctr"/>
          <a:lstStyle/>
          <a:p>
            <a:pPr indent="0" marL="0">
              <a:buNone/>
            </a:pPr>
            <a:r>
              <a:rPr lang="en-US" sz="1900" b="1" dirty="0">
                <a:solidFill>
                  <a:srgbClr val="1B2733"/>
                </a:solidFill>
                <a:latin typeface="Calibri" pitchFamily="34" charset="0"/>
                <a:ea typeface="Calibri" pitchFamily="34" charset="-122"/>
                <a:cs typeface="Calibri" pitchFamily="34" charset="-120"/>
              </a:rPr>
              <a:t>Observabilité</a:t>
            </a:r>
            <a:endParaRPr lang="en-US" sz="1900" dirty="0"/>
          </a:p>
        </p:txBody>
      </p:sp>
      <p:sp>
        <p:nvSpPr>
          <p:cNvPr id="16" name="Shape 14"/>
          <p:cNvSpPr/>
          <p:nvPr/>
        </p:nvSpPr>
        <p:spPr>
          <a:xfrm>
            <a:off x="6583680" y="3090672"/>
            <a:ext cx="137160" cy="137160"/>
          </a:xfrm>
          <a:prstGeom prst="ellipse">
            <a:avLst/>
          </a:prstGeom>
          <a:solidFill>
            <a:srgbClr val="2BC39A"/>
          </a:solidFill>
          <a:ln/>
        </p:spPr>
      </p:sp>
      <p:sp>
        <p:nvSpPr>
          <p:cNvPr id="17" name="Text 15"/>
          <p:cNvSpPr txBox="1"/>
          <p:nvPr/>
        </p:nvSpPr>
        <p:spPr>
          <a:xfrm>
            <a:off x="6858000" y="3017520"/>
            <a:ext cx="4297680" cy="777240"/>
          </a:xfrm>
          <a:prstGeom prst="rect">
            <a:avLst/>
          </a:prstGeom>
          <a:noFill/>
          <a:ln/>
        </p:spPr>
        <p:txBody>
          <a:bodyPr wrap="square" lIns="0" tIns="0" rIns="0" bIns="0" rtlCol="0" anchor="ctr"/>
          <a:lstStyle/>
          <a:p>
            <a:pPr indent="0" marL="0">
              <a:buNone/>
            </a:pPr>
            <a:r>
              <a:rPr lang="en-US" sz="1350" dirty="0">
                <a:solidFill>
                  <a:srgbClr val="1B2733"/>
                </a:solidFill>
                <a:latin typeface="Calibri" pitchFamily="34" charset="0"/>
                <a:ea typeface="Calibri" pitchFamily="34" charset="-122"/>
                <a:cs typeface="Calibri" pitchFamily="34" charset="-120"/>
              </a:rPr>
              <a:t>Prometheus collecte les métriques (débit, latence, erreurs)</a:t>
            </a:r>
            <a:endParaRPr lang="en-US" sz="1350" dirty="0"/>
          </a:p>
        </p:txBody>
      </p:sp>
      <p:sp>
        <p:nvSpPr>
          <p:cNvPr id="18" name="Shape 16"/>
          <p:cNvSpPr/>
          <p:nvPr/>
        </p:nvSpPr>
        <p:spPr>
          <a:xfrm>
            <a:off x="6583680" y="3959352"/>
            <a:ext cx="137160" cy="137160"/>
          </a:xfrm>
          <a:prstGeom prst="ellipse">
            <a:avLst/>
          </a:prstGeom>
          <a:solidFill>
            <a:srgbClr val="2BC39A"/>
          </a:solidFill>
          <a:ln/>
        </p:spPr>
      </p:sp>
      <p:sp>
        <p:nvSpPr>
          <p:cNvPr id="19" name="Text 17"/>
          <p:cNvSpPr txBox="1"/>
          <p:nvPr/>
        </p:nvSpPr>
        <p:spPr>
          <a:xfrm>
            <a:off x="6858000" y="3886200"/>
            <a:ext cx="4297680" cy="777240"/>
          </a:xfrm>
          <a:prstGeom prst="rect">
            <a:avLst/>
          </a:prstGeom>
          <a:noFill/>
          <a:ln/>
        </p:spPr>
        <p:txBody>
          <a:bodyPr wrap="square" lIns="0" tIns="0" rIns="0" bIns="0" rtlCol="0" anchor="ctr"/>
          <a:lstStyle/>
          <a:p>
            <a:pPr indent="0" marL="0">
              <a:buNone/>
            </a:pPr>
            <a:r>
              <a:rPr lang="en-US" sz="1350" dirty="0">
                <a:solidFill>
                  <a:srgbClr val="1B2733"/>
                </a:solidFill>
                <a:latin typeface="Calibri" pitchFamily="34" charset="0"/>
                <a:ea typeface="Calibri" pitchFamily="34" charset="-122"/>
                <a:cs typeface="Calibri" pitchFamily="34" charset="-120"/>
              </a:rPr>
              <a:t>Grafana visualise + alertes (TrafficSpike, HighLatency…)</a:t>
            </a:r>
            <a:endParaRPr lang="en-US" sz="1350" dirty="0"/>
          </a:p>
        </p:txBody>
      </p:sp>
      <p:sp>
        <p:nvSpPr>
          <p:cNvPr id="20" name="Shape 18"/>
          <p:cNvSpPr/>
          <p:nvPr/>
        </p:nvSpPr>
        <p:spPr>
          <a:xfrm>
            <a:off x="6583680" y="4828032"/>
            <a:ext cx="137160" cy="137160"/>
          </a:xfrm>
          <a:prstGeom prst="ellipse">
            <a:avLst/>
          </a:prstGeom>
          <a:solidFill>
            <a:srgbClr val="2BC39A"/>
          </a:solidFill>
          <a:ln/>
        </p:spPr>
      </p:sp>
      <p:sp>
        <p:nvSpPr>
          <p:cNvPr id="21" name="Text 19"/>
          <p:cNvSpPr txBox="1"/>
          <p:nvPr/>
        </p:nvSpPr>
        <p:spPr>
          <a:xfrm>
            <a:off x="6858000" y="4754880"/>
            <a:ext cx="4297680" cy="777240"/>
          </a:xfrm>
          <a:prstGeom prst="rect">
            <a:avLst/>
          </a:prstGeom>
          <a:noFill/>
          <a:ln/>
        </p:spPr>
        <p:txBody>
          <a:bodyPr wrap="square" lIns="0" tIns="0" rIns="0" bIns="0" rtlCol="0" anchor="ctr"/>
          <a:lstStyle/>
          <a:p>
            <a:pPr indent="0" marL="0">
              <a:buNone/>
            </a:pPr>
            <a:r>
              <a:rPr lang="en-US" sz="1350" dirty="0">
                <a:solidFill>
                  <a:srgbClr val="1B2733"/>
                </a:solidFill>
                <a:latin typeface="Calibri" pitchFamily="34" charset="0"/>
                <a:ea typeface="Calibri" pitchFamily="34" charset="-122"/>
                <a:cs typeface="Calibri" pitchFamily="34" charset="-120"/>
              </a:rPr>
              <a:t>Loki centralise les journaux via Promtail (fonction SIEM)</a:t>
            </a:r>
            <a:endParaRPr lang="en-US" sz="1350" dirty="0"/>
          </a:p>
        </p:txBody>
      </p:sp>
      <p:sp>
        <p:nvSpPr>
          <p:cNvPr id="22" name="Text 2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63707E"/>
                </a:solidFill>
                <a:latin typeface="Calibri" pitchFamily="34" charset="0"/>
                <a:ea typeface="Calibri" pitchFamily="34" charset="-122"/>
                <a:cs typeface="Calibri" pitchFamily="34" charset="-120"/>
              </a:rPr>
              <a:t>07</a:t>
            </a:r>
            <a:endParaRPr lang="en-US" sz="1000" dirty="0"/>
          </a:p>
        </p:txBody>
      </p:sp>
      <p:sp>
        <p:nvSpPr>
          <p:cNvPr id="23" name="Text 21"/>
          <p:cNvSpPr txBox="1"/>
          <p:nvPr/>
        </p:nvSpPr>
        <p:spPr>
          <a:xfrm>
            <a:off x="548640" y="6400800"/>
            <a:ext cx="4572000" cy="274320"/>
          </a:xfrm>
          <a:prstGeom prst="rect">
            <a:avLst/>
          </a:prstGeom>
          <a:noFill/>
          <a:ln/>
        </p:spPr>
        <p:txBody>
          <a:bodyPr wrap="square" lIns="0" tIns="0" rIns="0" bIns="0" rtlCol="0" anchor="ctr"/>
          <a:lstStyle/>
          <a:p>
            <a:pPr indent="0" marL="0">
              <a:buNone/>
            </a:pPr>
            <a:r>
              <a:rPr lang="en-US" sz="900" dirty="0">
                <a:solidFill>
                  <a:srgbClr val="63707E"/>
                </a:solidFill>
                <a:latin typeface="Calibri" pitchFamily="34" charset="0"/>
                <a:ea typeface="Calibri" pitchFamily="34" charset="-122"/>
                <a:cs typeface="Calibri" pitchFamily="34" charset="-120"/>
              </a:rPr>
              <a:t>Project Resilience-Alpha</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F38"/>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1C9BB0"/>
                </a:solidFill>
                <a:latin typeface="Calibri" pitchFamily="34" charset="0"/>
                <a:ea typeface="Calibri" pitchFamily="34" charset="-122"/>
                <a:cs typeface="Calibri" pitchFamily="34" charset="-120"/>
              </a:rPr>
              <a:t>DOMAINE · IA / DATA</a:t>
            </a:r>
            <a:endParaRPr lang="en-US" sz="1200" dirty="0"/>
          </a:p>
        </p:txBody>
      </p:sp>
      <p:sp>
        <p:nvSpPr>
          <p:cNvPr id="3" name="Text 1"/>
          <p:cNvSpPr txBox="1"/>
          <p:nvPr/>
        </p:nvSpPr>
        <p:spPr>
          <a:xfrm>
            <a:off x="548640" y="749808"/>
            <a:ext cx="11094415" cy="82296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Détecter l'anomalie par apprentissage</a:t>
            </a:r>
            <a:endParaRPr lang="en-US" sz="3200" dirty="0"/>
          </a:p>
        </p:txBody>
      </p:sp>
      <p:sp>
        <p:nvSpPr>
          <p:cNvPr id="4" name="Text 2"/>
          <p:cNvSpPr txBox="1"/>
          <p:nvPr/>
        </p:nvSpPr>
        <p:spPr>
          <a:xfrm>
            <a:off x="548640" y="1691640"/>
            <a:ext cx="6400800" cy="109728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Pas de règles codées en dur. Un modèle non supervisé (covariance robuste / EllipticEnvelope) apprend la « forme » du comportement normal et signale tout écart significatif.</a:t>
            </a:r>
            <a:endParaRPr lang="en-US" sz="1600" dirty="0"/>
          </a:p>
        </p:txBody>
      </p:sp>
      <p:sp>
        <p:nvSpPr>
          <p:cNvPr id="5" name="Shape 3"/>
          <p:cNvSpPr/>
          <p:nvPr/>
        </p:nvSpPr>
        <p:spPr>
          <a:xfrm>
            <a:off x="548640" y="3017520"/>
            <a:ext cx="3017520" cy="914400"/>
          </a:xfrm>
          <a:prstGeom prst="roundRect">
            <a:avLst>
              <a:gd name="adj" fmla="val 6000"/>
            </a:avLst>
          </a:prstGeom>
          <a:solidFill>
            <a:srgbClr val="17304F"/>
          </a:solidFill>
          <a:ln w="12700">
            <a:solidFill>
              <a:srgbClr val="1C9BB0"/>
            </a:solidFill>
            <a:prstDash val="solid"/>
          </a:ln>
        </p:spPr>
      </p:sp>
      <p:sp>
        <p:nvSpPr>
          <p:cNvPr id="6" name="Text 4"/>
          <p:cNvSpPr txBox="1"/>
          <p:nvPr/>
        </p:nvSpPr>
        <p:spPr>
          <a:xfrm>
            <a:off x="777240" y="3145536"/>
            <a:ext cx="2651760" cy="365760"/>
          </a:xfrm>
          <a:prstGeom prst="rect">
            <a:avLst/>
          </a:prstGeom>
          <a:noFill/>
          <a:ln/>
        </p:spPr>
        <p:txBody>
          <a:bodyPr wrap="square" lIns="0" tIns="0" rIns="0" bIns="0" rtlCol="0" anchor="ctr"/>
          <a:lstStyle/>
          <a:p>
            <a:pPr indent="0" marL="0">
              <a:buNone/>
            </a:pPr>
            <a:r>
              <a:rPr lang="en-US" sz="1600" b="1" dirty="0">
                <a:solidFill>
                  <a:srgbClr val="2BC39A"/>
                </a:solidFill>
                <a:latin typeface="Courier New" pitchFamily="34" charset="0"/>
                <a:ea typeface="Courier New" pitchFamily="34" charset="-122"/>
                <a:cs typeface="Courier New" pitchFamily="34" charset="-120"/>
              </a:rPr>
              <a:t>req_rate</a:t>
            </a:r>
            <a:endParaRPr lang="en-US" sz="1600" dirty="0"/>
          </a:p>
        </p:txBody>
      </p:sp>
      <p:sp>
        <p:nvSpPr>
          <p:cNvPr id="7" name="Text 5"/>
          <p:cNvSpPr txBox="1"/>
          <p:nvPr/>
        </p:nvSpPr>
        <p:spPr>
          <a:xfrm>
            <a:off x="777240" y="3520440"/>
            <a:ext cx="265176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débit de requêtes</a:t>
            </a:r>
            <a:endParaRPr lang="en-US" sz="1200" dirty="0"/>
          </a:p>
        </p:txBody>
      </p:sp>
      <p:sp>
        <p:nvSpPr>
          <p:cNvPr id="8" name="Shape 6"/>
          <p:cNvSpPr/>
          <p:nvPr/>
        </p:nvSpPr>
        <p:spPr>
          <a:xfrm>
            <a:off x="3794760" y="3017520"/>
            <a:ext cx="3017520" cy="914400"/>
          </a:xfrm>
          <a:prstGeom prst="roundRect">
            <a:avLst>
              <a:gd name="adj" fmla="val 6000"/>
            </a:avLst>
          </a:prstGeom>
          <a:solidFill>
            <a:srgbClr val="17304F"/>
          </a:solidFill>
          <a:ln w="12700">
            <a:solidFill>
              <a:srgbClr val="1C9BB0"/>
            </a:solidFill>
            <a:prstDash val="solid"/>
          </a:ln>
        </p:spPr>
      </p:sp>
      <p:sp>
        <p:nvSpPr>
          <p:cNvPr id="9" name="Text 7"/>
          <p:cNvSpPr txBox="1"/>
          <p:nvPr/>
        </p:nvSpPr>
        <p:spPr>
          <a:xfrm>
            <a:off x="4023360" y="3145536"/>
            <a:ext cx="2651760" cy="365760"/>
          </a:xfrm>
          <a:prstGeom prst="rect">
            <a:avLst/>
          </a:prstGeom>
          <a:noFill/>
          <a:ln/>
        </p:spPr>
        <p:txBody>
          <a:bodyPr wrap="square" lIns="0" tIns="0" rIns="0" bIns="0" rtlCol="0" anchor="ctr"/>
          <a:lstStyle/>
          <a:p>
            <a:pPr indent="0" marL="0">
              <a:buNone/>
            </a:pPr>
            <a:r>
              <a:rPr lang="en-US" sz="1600" b="1" dirty="0">
                <a:solidFill>
                  <a:srgbClr val="2BC39A"/>
                </a:solidFill>
                <a:latin typeface="Courier New" pitchFamily="34" charset="0"/>
                <a:ea typeface="Courier New" pitchFamily="34" charset="-122"/>
                <a:cs typeface="Courier New" pitchFamily="34" charset="-120"/>
              </a:rPr>
              <a:t>error_ratio</a:t>
            </a:r>
            <a:endParaRPr lang="en-US" sz="1600" dirty="0"/>
          </a:p>
        </p:txBody>
      </p:sp>
      <p:sp>
        <p:nvSpPr>
          <p:cNvPr id="10" name="Text 8"/>
          <p:cNvSpPr txBox="1"/>
          <p:nvPr/>
        </p:nvSpPr>
        <p:spPr>
          <a:xfrm>
            <a:off x="4023360" y="3520440"/>
            <a:ext cx="265176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taux d'erreurs 5xx</a:t>
            </a:r>
            <a:endParaRPr lang="en-US" sz="1200" dirty="0"/>
          </a:p>
        </p:txBody>
      </p:sp>
      <p:sp>
        <p:nvSpPr>
          <p:cNvPr id="11" name="Shape 9"/>
          <p:cNvSpPr/>
          <p:nvPr/>
        </p:nvSpPr>
        <p:spPr>
          <a:xfrm>
            <a:off x="548640" y="4114800"/>
            <a:ext cx="3017520" cy="914400"/>
          </a:xfrm>
          <a:prstGeom prst="roundRect">
            <a:avLst>
              <a:gd name="adj" fmla="val 6000"/>
            </a:avLst>
          </a:prstGeom>
          <a:solidFill>
            <a:srgbClr val="17304F"/>
          </a:solidFill>
          <a:ln w="12700">
            <a:solidFill>
              <a:srgbClr val="1C9BB0"/>
            </a:solidFill>
            <a:prstDash val="solid"/>
          </a:ln>
        </p:spPr>
      </p:sp>
      <p:sp>
        <p:nvSpPr>
          <p:cNvPr id="12" name="Text 10"/>
          <p:cNvSpPr txBox="1"/>
          <p:nvPr/>
        </p:nvSpPr>
        <p:spPr>
          <a:xfrm>
            <a:off x="777240" y="4242816"/>
            <a:ext cx="2651760" cy="365760"/>
          </a:xfrm>
          <a:prstGeom prst="rect">
            <a:avLst/>
          </a:prstGeom>
          <a:noFill/>
          <a:ln/>
        </p:spPr>
        <p:txBody>
          <a:bodyPr wrap="square" lIns="0" tIns="0" rIns="0" bIns="0" rtlCol="0" anchor="ctr"/>
          <a:lstStyle/>
          <a:p>
            <a:pPr indent="0" marL="0">
              <a:buNone/>
            </a:pPr>
            <a:r>
              <a:rPr lang="en-US" sz="1600" b="1" dirty="0">
                <a:solidFill>
                  <a:srgbClr val="2BC39A"/>
                </a:solidFill>
                <a:latin typeface="Courier New" pitchFamily="34" charset="0"/>
                <a:ea typeface="Courier New" pitchFamily="34" charset="-122"/>
                <a:cs typeface="Courier New" pitchFamily="34" charset="-120"/>
              </a:rPr>
              <a:t>latency_p95</a:t>
            </a:r>
            <a:endParaRPr lang="en-US" sz="1600" dirty="0"/>
          </a:p>
        </p:txBody>
      </p:sp>
      <p:sp>
        <p:nvSpPr>
          <p:cNvPr id="13" name="Text 11"/>
          <p:cNvSpPr txBox="1"/>
          <p:nvPr/>
        </p:nvSpPr>
        <p:spPr>
          <a:xfrm>
            <a:off x="777240" y="4617720"/>
            <a:ext cx="265176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latence 95e pct</a:t>
            </a:r>
            <a:endParaRPr lang="en-US" sz="1200" dirty="0"/>
          </a:p>
        </p:txBody>
      </p:sp>
      <p:sp>
        <p:nvSpPr>
          <p:cNvPr id="14" name="Shape 12"/>
          <p:cNvSpPr/>
          <p:nvPr/>
        </p:nvSpPr>
        <p:spPr>
          <a:xfrm>
            <a:off x="3794760" y="4114800"/>
            <a:ext cx="3017520" cy="914400"/>
          </a:xfrm>
          <a:prstGeom prst="roundRect">
            <a:avLst>
              <a:gd name="adj" fmla="val 6000"/>
            </a:avLst>
          </a:prstGeom>
          <a:solidFill>
            <a:srgbClr val="17304F"/>
          </a:solidFill>
          <a:ln w="12700">
            <a:solidFill>
              <a:srgbClr val="1C9BB0"/>
            </a:solidFill>
            <a:prstDash val="solid"/>
          </a:ln>
        </p:spPr>
      </p:sp>
      <p:sp>
        <p:nvSpPr>
          <p:cNvPr id="15" name="Text 13"/>
          <p:cNvSpPr txBox="1"/>
          <p:nvPr/>
        </p:nvSpPr>
        <p:spPr>
          <a:xfrm>
            <a:off x="4023360" y="4242816"/>
            <a:ext cx="2651760" cy="365760"/>
          </a:xfrm>
          <a:prstGeom prst="rect">
            <a:avLst/>
          </a:prstGeom>
          <a:noFill/>
          <a:ln/>
        </p:spPr>
        <p:txBody>
          <a:bodyPr wrap="square" lIns="0" tIns="0" rIns="0" bIns="0" rtlCol="0" anchor="ctr"/>
          <a:lstStyle/>
          <a:p>
            <a:pPr indent="0" marL="0">
              <a:buNone/>
            </a:pPr>
            <a:r>
              <a:rPr lang="en-US" sz="1600" b="1" dirty="0">
                <a:solidFill>
                  <a:srgbClr val="2BC39A"/>
                </a:solidFill>
                <a:latin typeface="Courier New" pitchFamily="34" charset="0"/>
                <a:ea typeface="Courier New" pitchFamily="34" charset="-122"/>
                <a:cs typeface="Courier New" pitchFamily="34" charset="-120"/>
              </a:rPr>
              <a:t>inflight</a:t>
            </a:r>
            <a:endParaRPr lang="en-US" sz="1600" dirty="0"/>
          </a:p>
        </p:txBody>
      </p:sp>
      <p:sp>
        <p:nvSpPr>
          <p:cNvPr id="16" name="Text 14"/>
          <p:cNvSpPr txBox="1"/>
          <p:nvPr/>
        </p:nvSpPr>
        <p:spPr>
          <a:xfrm>
            <a:off x="4023360" y="4617720"/>
            <a:ext cx="265176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requêtes en cours</a:t>
            </a:r>
            <a:endParaRPr lang="en-US" sz="1200" dirty="0"/>
          </a:p>
        </p:txBody>
      </p:sp>
      <p:sp>
        <p:nvSpPr>
          <p:cNvPr id="17" name="Shape 15"/>
          <p:cNvSpPr/>
          <p:nvPr/>
        </p:nvSpPr>
        <p:spPr>
          <a:xfrm>
            <a:off x="7315200" y="1691640"/>
            <a:ext cx="4327855" cy="4206240"/>
          </a:xfrm>
          <a:prstGeom prst="roundRect">
            <a:avLst>
              <a:gd name="adj" fmla="val 1739"/>
            </a:avLst>
          </a:prstGeom>
          <a:solidFill>
            <a:srgbClr val="17304F"/>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18" name="Text 16"/>
          <p:cNvSpPr txBox="1"/>
          <p:nvPr/>
        </p:nvSpPr>
        <p:spPr>
          <a:xfrm>
            <a:off x="7635240" y="1965960"/>
            <a:ext cx="3931920" cy="365760"/>
          </a:xfrm>
          <a:prstGeom prst="rect">
            <a:avLst/>
          </a:prstGeom>
          <a:noFill/>
          <a:ln/>
        </p:spPr>
        <p:txBody>
          <a:bodyPr wrap="square" lIns="0" tIns="0" rIns="0" bIns="0" rtlCol="0" anchor="ctr"/>
          <a:lstStyle/>
          <a:p>
            <a:pPr indent="0" marL="0">
              <a:buNone/>
            </a:pPr>
            <a:r>
              <a:rPr lang="en-US" sz="1500" b="1" dirty="0">
                <a:solidFill>
                  <a:srgbClr val="1C9BB0"/>
                </a:solidFill>
                <a:latin typeface="Calibri" pitchFamily="34" charset="0"/>
                <a:ea typeface="Calibri" pitchFamily="34" charset="-122"/>
                <a:cs typeface="Calibri" pitchFamily="34" charset="-120"/>
              </a:rPr>
              <a:t>Comment ça marche</a:t>
            </a:r>
            <a:endParaRPr lang="en-US" sz="1500" dirty="0"/>
          </a:p>
        </p:txBody>
      </p:sp>
      <p:sp>
        <p:nvSpPr>
          <p:cNvPr id="19" name="Text 17"/>
          <p:cNvSpPr txBox="1"/>
          <p:nvPr/>
        </p:nvSpPr>
        <p:spPr>
          <a:xfrm>
            <a:off x="7635240" y="2377440"/>
            <a:ext cx="3931920" cy="338328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On trace une enveloppe autour du nuage de points « normal » (sa position et sa dispersion). </a:t>
            </a:r>
            <a:endParaRPr lang="en-US" sz="1350" dirty="0"/>
          </a:p>
          <a:p>
            <a:pPr indent="0" marL="0">
              <a:buNone/>
            </a:pPr>
            <a:r>
              <a:rPr lang="en-US" sz="1350" dirty="0">
                <a:solidFill>
                  <a:srgbClr val="2BC39A"/>
                </a:solidFill>
                <a:latin typeface="Calibri" pitchFamily="34" charset="0"/>
                <a:ea typeface="Calibri" pitchFamily="34" charset="-122"/>
                <a:cs typeface="Calibri" pitchFamily="34" charset="-120"/>
              </a:rPr>
              <a:t>Un point loin de cette zone (distance de Mahalanobis élevée) = anomalie.
</a:t>
            </a:r>
            <a:endParaRPr lang="en-US" sz="1350" dirty="0"/>
          </a:p>
          <a:p>
            <a:pPr indent="0" marL="0">
              <a:buNone/>
            </a:pPr>
            <a:r>
              <a:rPr lang="en-US" sz="1350" dirty="0">
                <a:solidFill>
                  <a:srgbClr val="FFFFFF"/>
                </a:solidFill>
                <a:latin typeface="Calibri" pitchFamily="34" charset="0"/>
                <a:ea typeface="Calibri" pitchFamily="34" charset="-122"/>
                <a:cs typeface="Calibri" pitchFamily="34" charset="-120"/>
              </a:rPr>
              <a:t>Le seuil n'est pas écrit à la main : il est calibré sur les données normales (~0,5 % de faux positifs). </a:t>
            </a:r>
            <a:endParaRPr lang="en-US" sz="1350" dirty="0"/>
          </a:p>
          <a:p>
            <a:pPr indent="0" marL="0">
              <a:buNone/>
            </a:pPr>
            <a:r>
              <a:rPr lang="en-US" sz="1350" dirty="0">
                <a:solidFill>
                  <a:srgbClr val="CADCFC"/>
                </a:solidFill>
                <a:latin typeface="Calibri" pitchFamily="34" charset="0"/>
                <a:ea typeface="Calibri" pitchFamily="34" charset="-122"/>
                <a:cs typeface="Calibri" pitchFamily="34" charset="-120"/>
              </a:rPr>
              <a:t>Pour chaque alerte : le driver principal + une explication, puis notification à la remédiation.</a:t>
            </a:r>
            <a:endParaRPr lang="en-US" sz="1350" dirty="0"/>
          </a:p>
        </p:txBody>
      </p:sp>
      <p:sp>
        <p:nvSpPr>
          <p:cNvPr id="20" name="Text 18"/>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63707E"/>
                </a:solidFill>
                <a:latin typeface="Calibri" pitchFamily="34" charset="0"/>
                <a:ea typeface="Calibri" pitchFamily="34" charset="-122"/>
                <a:cs typeface="Calibri" pitchFamily="34" charset="-120"/>
              </a:rPr>
              <a:t>08</a:t>
            </a:r>
            <a:endParaRPr lang="en-US" sz="1000" dirty="0"/>
          </a:p>
        </p:txBody>
      </p:sp>
      <p:sp>
        <p:nvSpPr>
          <p:cNvPr id="21" name="Text 19"/>
          <p:cNvSpPr txBox="1"/>
          <p:nvPr/>
        </p:nvSpPr>
        <p:spPr>
          <a:xfrm>
            <a:off x="548640" y="6400800"/>
            <a:ext cx="4572000" cy="274320"/>
          </a:xfrm>
          <a:prstGeom prst="rect">
            <a:avLst/>
          </a:prstGeom>
          <a:noFill/>
          <a:ln/>
        </p:spPr>
        <p:txBody>
          <a:bodyPr wrap="square" lIns="0" tIns="0" rIns="0" bIns="0" rtlCol="0" anchor="ctr"/>
          <a:lstStyle/>
          <a:p>
            <a:pPr indent="0" marL="0">
              <a:buNone/>
            </a:pPr>
            <a:r>
              <a:rPr lang="en-US" sz="900" dirty="0">
                <a:solidFill>
                  <a:srgbClr val="63707E"/>
                </a:solidFill>
                <a:latin typeface="Calibri" pitchFamily="34" charset="0"/>
                <a:ea typeface="Calibri" pitchFamily="34" charset="-122"/>
                <a:cs typeface="Calibri" pitchFamily="34" charset="-120"/>
              </a:rPr>
              <a:t>Project Resilience-Alpha</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1C9BB0"/>
                </a:solidFill>
                <a:latin typeface="Calibri" pitchFamily="34" charset="0"/>
                <a:ea typeface="Calibri" pitchFamily="34" charset="-122"/>
                <a:cs typeface="Calibri" pitchFamily="34" charset="-120"/>
              </a:rPr>
              <a:t>DOMAINE · IA / DATA</a:t>
            </a:r>
            <a:endParaRPr lang="en-US" sz="1200" dirty="0"/>
          </a:p>
        </p:txBody>
      </p:sp>
      <p:sp>
        <p:nvSpPr>
          <p:cNvPr id="3" name="Text 1"/>
          <p:cNvSpPr txBox="1"/>
          <p:nvPr/>
        </p:nvSpPr>
        <p:spPr>
          <a:xfrm>
            <a:off x="548640" y="749808"/>
            <a:ext cx="11094415" cy="822960"/>
          </a:xfrm>
          <a:prstGeom prst="rect">
            <a:avLst/>
          </a:prstGeom>
          <a:noFill/>
          <a:ln/>
        </p:spPr>
        <p:txBody>
          <a:bodyPr wrap="square" lIns="0" tIns="0" rIns="0" bIns="0" rtlCol="0" anchor="ctr"/>
          <a:lstStyle/>
          <a:p>
            <a:pPr indent="0" marL="0">
              <a:buNone/>
            </a:pPr>
            <a:r>
              <a:rPr lang="en-US" sz="3200" b="1" dirty="0">
                <a:solidFill>
                  <a:srgbClr val="1B2733"/>
                </a:solidFill>
                <a:latin typeface="Calibri" pitchFamily="34" charset="0"/>
                <a:ea typeface="Calibri" pitchFamily="34" charset="-122"/>
                <a:cs typeface="Calibri" pitchFamily="34" charset="-120"/>
              </a:rPr>
              <a:t>Un assistant pour l'opérateur (RAG)</a:t>
            </a:r>
            <a:endParaRPr lang="en-US" sz="3200" dirty="0"/>
          </a:p>
        </p:txBody>
      </p:sp>
      <p:sp>
        <p:nvSpPr>
          <p:cNvPr id="4" name="Text 2"/>
          <p:cNvSpPr txBox="1"/>
          <p:nvPr/>
        </p:nvSpPr>
        <p:spPr>
          <a:xfrm>
            <a:off x="548640" y="1691640"/>
            <a:ext cx="11094415" cy="914400"/>
          </a:xfrm>
          <a:prstGeom prst="rect">
            <a:avLst/>
          </a:prstGeom>
          <a:noFill/>
          <a:ln/>
        </p:spPr>
        <p:txBody>
          <a:bodyPr wrap="square" lIns="0" tIns="0" rIns="0" bIns="0" rtlCol="0" anchor="ctr"/>
          <a:lstStyle/>
          <a:p>
            <a:pPr indent="0" marL="0">
              <a:buNone/>
            </a:pPr>
            <a:r>
              <a:rPr lang="en-US" sz="1600" dirty="0">
                <a:solidFill>
                  <a:srgbClr val="1B2733"/>
                </a:solidFill>
                <a:latin typeface="Calibri" pitchFamily="34" charset="0"/>
                <a:ea typeface="Calibri" pitchFamily="34" charset="-122"/>
                <a:cs typeface="Calibri" pitchFamily="34" charset="-120"/>
              </a:rPr>
              <a:t>Second composant IA : un assistant local qui aide l'opérateur à retrouver l'information utile dans les procédures et l'architecture — construit avec Ollama (LLM local &lt; 8 Md de paramètres) + LangChain.</a:t>
            </a:r>
            <a:endParaRPr lang="en-US" sz="1600" dirty="0"/>
          </a:p>
        </p:txBody>
      </p:sp>
      <p:sp>
        <p:nvSpPr>
          <p:cNvPr id="5" name="Shape 3"/>
          <p:cNvSpPr/>
          <p:nvPr/>
        </p:nvSpPr>
        <p:spPr>
          <a:xfrm>
            <a:off x="548640" y="2926080"/>
            <a:ext cx="2514600" cy="1371600"/>
          </a:xfrm>
          <a:prstGeom prst="roundRect">
            <a:avLst>
              <a:gd name="adj" fmla="val 5333"/>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6" name="Text 4"/>
          <p:cNvSpPr txBox="1"/>
          <p:nvPr/>
        </p:nvSpPr>
        <p:spPr>
          <a:xfrm>
            <a:off x="731520" y="3063240"/>
            <a:ext cx="548640" cy="457200"/>
          </a:xfrm>
          <a:prstGeom prst="rect">
            <a:avLst/>
          </a:prstGeom>
          <a:noFill/>
          <a:ln/>
        </p:spPr>
        <p:txBody>
          <a:bodyPr wrap="square" lIns="0" tIns="0" rIns="0" bIns="0" rtlCol="0" anchor="ctr"/>
          <a:lstStyle/>
          <a:p>
            <a:pPr indent="0" marL="0">
              <a:buNone/>
            </a:pPr>
            <a:r>
              <a:rPr lang="en-US" sz="2200" b="1" dirty="0">
                <a:solidFill>
                  <a:srgbClr val="1C9BB0"/>
                </a:solidFill>
                <a:latin typeface="Calibri" pitchFamily="34" charset="0"/>
                <a:ea typeface="Calibri" pitchFamily="34" charset="-122"/>
                <a:cs typeface="Calibri" pitchFamily="34" charset="-120"/>
              </a:rPr>
              <a:t>1</a:t>
            </a:r>
            <a:endParaRPr lang="en-US" sz="2200" dirty="0"/>
          </a:p>
        </p:txBody>
      </p:sp>
      <p:sp>
        <p:nvSpPr>
          <p:cNvPr id="7" name="Text 5"/>
          <p:cNvSpPr txBox="1"/>
          <p:nvPr/>
        </p:nvSpPr>
        <p:spPr>
          <a:xfrm>
            <a:off x="731520" y="3520440"/>
            <a:ext cx="2148840" cy="685800"/>
          </a:xfrm>
          <a:prstGeom prst="rect">
            <a:avLst/>
          </a:prstGeom>
          <a:noFill/>
          <a:ln/>
        </p:spPr>
        <p:txBody>
          <a:bodyPr wrap="square" lIns="0" tIns="0" rIns="0" bIns="0" rtlCol="0" anchor="ctr"/>
          <a:lstStyle/>
          <a:p>
            <a:pPr indent="0" marL="0">
              <a:buNone/>
            </a:pPr>
            <a:r>
              <a:rPr lang="en-US" sz="1250" dirty="0">
                <a:solidFill>
                  <a:srgbClr val="1B2733"/>
                </a:solidFill>
                <a:latin typeface="Calibri" pitchFamily="34" charset="0"/>
                <a:ea typeface="Calibri" pitchFamily="34" charset="-122"/>
                <a:cs typeface="Calibri" pitchFamily="34" charset="-120"/>
              </a:rPr>
              <a:t>Question de l'opérateur</a:t>
            </a:r>
            <a:endParaRPr lang="en-US" sz="1250" dirty="0"/>
          </a:p>
        </p:txBody>
      </p:sp>
      <p:sp>
        <p:nvSpPr>
          <p:cNvPr id="8" name="Text 6"/>
          <p:cNvSpPr txBox="1"/>
          <p:nvPr/>
        </p:nvSpPr>
        <p:spPr>
          <a:xfrm>
            <a:off x="2990088" y="3383280"/>
            <a:ext cx="320040" cy="457200"/>
          </a:xfrm>
          <a:prstGeom prst="rect">
            <a:avLst/>
          </a:prstGeom>
          <a:noFill/>
          <a:ln/>
        </p:spPr>
        <p:txBody>
          <a:bodyPr wrap="square" lIns="0" tIns="0" rIns="0" bIns="0" rtlCol="0" anchor="ctr"/>
          <a:lstStyle/>
          <a:p>
            <a:pPr algn="ctr" indent="0" marL="0">
              <a:buNone/>
            </a:pPr>
            <a:r>
              <a:rPr lang="en-US" sz="2000" b="1" dirty="0">
                <a:solidFill>
                  <a:srgbClr val="63707E"/>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3429000" y="2926080"/>
            <a:ext cx="2514600" cy="1371600"/>
          </a:xfrm>
          <a:prstGeom prst="roundRect">
            <a:avLst>
              <a:gd name="adj" fmla="val 5333"/>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10" name="Text 8"/>
          <p:cNvSpPr txBox="1"/>
          <p:nvPr/>
        </p:nvSpPr>
        <p:spPr>
          <a:xfrm>
            <a:off x="3611880" y="3063240"/>
            <a:ext cx="548640" cy="457200"/>
          </a:xfrm>
          <a:prstGeom prst="rect">
            <a:avLst/>
          </a:prstGeom>
          <a:noFill/>
          <a:ln/>
        </p:spPr>
        <p:txBody>
          <a:bodyPr wrap="square" lIns="0" tIns="0" rIns="0" bIns="0" rtlCol="0" anchor="ctr"/>
          <a:lstStyle/>
          <a:p>
            <a:pPr indent="0" marL="0">
              <a:buNone/>
            </a:pPr>
            <a:r>
              <a:rPr lang="en-US" sz="2200" b="1" dirty="0">
                <a:solidFill>
                  <a:srgbClr val="1C9BB0"/>
                </a:solidFill>
                <a:latin typeface="Calibri" pitchFamily="34" charset="0"/>
                <a:ea typeface="Calibri" pitchFamily="34" charset="-122"/>
                <a:cs typeface="Calibri" pitchFamily="34" charset="-120"/>
              </a:rPr>
              <a:t>2</a:t>
            </a:r>
            <a:endParaRPr lang="en-US" sz="2200" dirty="0"/>
          </a:p>
        </p:txBody>
      </p:sp>
      <p:sp>
        <p:nvSpPr>
          <p:cNvPr id="11" name="Text 9"/>
          <p:cNvSpPr txBox="1"/>
          <p:nvPr/>
        </p:nvSpPr>
        <p:spPr>
          <a:xfrm>
            <a:off x="3611880" y="3520440"/>
            <a:ext cx="2148840" cy="685800"/>
          </a:xfrm>
          <a:prstGeom prst="rect">
            <a:avLst/>
          </a:prstGeom>
          <a:noFill/>
          <a:ln/>
        </p:spPr>
        <p:txBody>
          <a:bodyPr wrap="square" lIns="0" tIns="0" rIns="0" bIns="0" rtlCol="0" anchor="ctr"/>
          <a:lstStyle/>
          <a:p>
            <a:pPr indent="0" marL="0">
              <a:buNone/>
            </a:pPr>
            <a:r>
              <a:rPr lang="en-US" sz="1250" dirty="0">
                <a:solidFill>
                  <a:srgbClr val="1B2733"/>
                </a:solidFill>
                <a:latin typeface="Calibri" pitchFamily="34" charset="0"/>
                <a:ea typeface="Calibri" pitchFamily="34" charset="-122"/>
                <a:cs typeface="Calibri" pitchFamily="34" charset="-120"/>
              </a:rPr>
              <a:t>Récupération des passages pertinents (TF-IDF)</a:t>
            </a:r>
            <a:endParaRPr lang="en-US" sz="1250" dirty="0"/>
          </a:p>
        </p:txBody>
      </p:sp>
      <p:sp>
        <p:nvSpPr>
          <p:cNvPr id="12" name="Text 10"/>
          <p:cNvSpPr txBox="1"/>
          <p:nvPr/>
        </p:nvSpPr>
        <p:spPr>
          <a:xfrm>
            <a:off x="5870448" y="3383280"/>
            <a:ext cx="320040" cy="457200"/>
          </a:xfrm>
          <a:prstGeom prst="rect">
            <a:avLst/>
          </a:prstGeom>
          <a:noFill/>
          <a:ln/>
        </p:spPr>
        <p:txBody>
          <a:bodyPr wrap="square" lIns="0" tIns="0" rIns="0" bIns="0" rtlCol="0" anchor="ctr"/>
          <a:lstStyle/>
          <a:p>
            <a:pPr algn="ctr" indent="0" marL="0">
              <a:buNone/>
            </a:pPr>
            <a:r>
              <a:rPr lang="en-US" sz="2000" b="1" dirty="0">
                <a:solidFill>
                  <a:srgbClr val="63707E"/>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6309360" y="2926080"/>
            <a:ext cx="2514600" cy="1371600"/>
          </a:xfrm>
          <a:prstGeom prst="roundRect">
            <a:avLst>
              <a:gd name="adj" fmla="val 5333"/>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14" name="Text 12"/>
          <p:cNvSpPr txBox="1"/>
          <p:nvPr/>
        </p:nvSpPr>
        <p:spPr>
          <a:xfrm>
            <a:off x="6492240" y="3063240"/>
            <a:ext cx="548640" cy="457200"/>
          </a:xfrm>
          <a:prstGeom prst="rect">
            <a:avLst/>
          </a:prstGeom>
          <a:noFill/>
          <a:ln/>
        </p:spPr>
        <p:txBody>
          <a:bodyPr wrap="square" lIns="0" tIns="0" rIns="0" bIns="0" rtlCol="0" anchor="ctr"/>
          <a:lstStyle/>
          <a:p>
            <a:pPr indent="0" marL="0">
              <a:buNone/>
            </a:pPr>
            <a:r>
              <a:rPr lang="en-US" sz="2200" b="1" dirty="0">
                <a:solidFill>
                  <a:srgbClr val="1C9BB0"/>
                </a:solidFill>
                <a:latin typeface="Calibri" pitchFamily="34" charset="0"/>
                <a:ea typeface="Calibri" pitchFamily="34" charset="-122"/>
                <a:cs typeface="Calibri" pitchFamily="34" charset="-120"/>
              </a:rPr>
              <a:t>3</a:t>
            </a:r>
            <a:endParaRPr lang="en-US" sz="2200" dirty="0"/>
          </a:p>
        </p:txBody>
      </p:sp>
      <p:sp>
        <p:nvSpPr>
          <p:cNvPr id="15" name="Text 13"/>
          <p:cNvSpPr txBox="1"/>
          <p:nvPr/>
        </p:nvSpPr>
        <p:spPr>
          <a:xfrm>
            <a:off x="6492240" y="3520440"/>
            <a:ext cx="2148840" cy="685800"/>
          </a:xfrm>
          <a:prstGeom prst="rect">
            <a:avLst/>
          </a:prstGeom>
          <a:noFill/>
          <a:ln/>
        </p:spPr>
        <p:txBody>
          <a:bodyPr wrap="square" lIns="0" tIns="0" rIns="0" bIns="0" rtlCol="0" anchor="ctr"/>
          <a:lstStyle/>
          <a:p>
            <a:pPr indent="0" marL="0">
              <a:buNone/>
            </a:pPr>
            <a:r>
              <a:rPr lang="en-US" sz="1250" dirty="0">
                <a:solidFill>
                  <a:srgbClr val="1B2733"/>
                </a:solidFill>
                <a:latin typeface="Calibri" pitchFamily="34" charset="0"/>
                <a:ea typeface="Calibri" pitchFamily="34" charset="-122"/>
                <a:cs typeface="Calibri" pitchFamily="34" charset="-120"/>
              </a:rPr>
              <a:t>Prompt enrichi du contexte</a:t>
            </a:r>
            <a:endParaRPr lang="en-US" sz="1250" dirty="0"/>
          </a:p>
        </p:txBody>
      </p:sp>
      <p:sp>
        <p:nvSpPr>
          <p:cNvPr id="16" name="Text 14"/>
          <p:cNvSpPr txBox="1"/>
          <p:nvPr/>
        </p:nvSpPr>
        <p:spPr>
          <a:xfrm>
            <a:off x="8750808" y="3383280"/>
            <a:ext cx="320040" cy="457200"/>
          </a:xfrm>
          <a:prstGeom prst="rect">
            <a:avLst/>
          </a:prstGeom>
          <a:noFill/>
          <a:ln/>
        </p:spPr>
        <p:txBody>
          <a:bodyPr wrap="square" lIns="0" tIns="0" rIns="0" bIns="0" rtlCol="0" anchor="ctr"/>
          <a:lstStyle/>
          <a:p>
            <a:pPr algn="ctr" indent="0" marL="0">
              <a:buNone/>
            </a:pPr>
            <a:r>
              <a:rPr lang="en-US" sz="2000" b="1" dirty="0">
                <a:solidFill>
                  <a:srgbClr val="63707E"/>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9189720" y="2926080"/>
            <a:ext cx="2514600" cy="1371600"/>
          </a:xfrm>
          <a:prstGeom prst="roundRect">
            <a:avLst>
              <a:gd name="adj" fmla="val 5333"/>
            </a:avLst>
          </a:prstGeom>
          <a:solidFill>
            <a:srgbClr val="0E1F38"/>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18" name="Text 16"/>
          <p:cNvSpPr txBox="1"/>
          <p:nvPr/>
        </p:nvSpPr>
        <p:spPr>
          <a:xfrm>
            <a:off x="9372600" y="3063240"/>
            <a:ext cx="548640" cy="457200"/>
          </a:xfrm>
          <a:prstGeom prst="rect">
            <a:avLst/>
          </a:prstGeom>
          <a:noFill/>
          <a:ln/>
        </p:spPr>
        <p:txBody>
          <a:bodyPr wrap="square" lIns="0" tIns="0" rIns="0" bIns="0" rtlCol="0" anchor="ctr"/>
          <a:lstStyle/>
          <a:p>
            <a:pPr indent="0" marL="0">
              <a:buNone/>
            </a:pPr>
            <a:r>
              <a:rPr lang="en-US" sz="2200" b="1" dirty="0">
                <a:solidFill>
                  <a:srgbClr val="2BC39A"/>
                </a:solidFill>
                <a:latin typeface="Calibri" pitchFamily="34" charset="0"/>
                <a:ea typeface="Calibri" pitchFamily="34" charset="-122"/>
                <a:cs typeface="Calibri" pitchFamily="34" charset="-120"/>
              </a:rPr>
              <a:t>4</a:t>
            </a:r>
            <a:endParaRPr lang="en-US" sz="2200" dirty="0"/>
          </a:p>
        </p:txBody>
      </p:sp>
      <p:sp>
        <p:nvSpPr>
          <p:cNvPr id="19" name="Text 17"/>
          <p:cNvSpPr txBox="1"/>
          <p:nvPr/>
        </p:nvSpPr>
        <p:spPr>
          <a:xfrm>
            <a:off x="9372600" y="3520440"/>
            <a:ext cx="2148840" cy="6858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Réponse du LLM local, sources citées</a:t>
            </a:r>
            <a:endParaRPr lang="en-US" sz="1250" dirty="0"/>
          </a:p>
        </p:txBody>
      </p:sp>
      <p:sp>
        <p:nvSpPr>
          <p:cNvPr id="20" name="Shape 18"/>
          <p:cNvSpPr/>
          <p:nvPr/>
        </p:nvSpPr>
        <p:spPr>
          <a:xfrm>
            <a:off x="548640" y="4663440"/>
            <a:ext cx="11094415" cy="1188720"/>
          </a:xfrm>
          <a:prstGeom prst="roundRect">
            <a:avLst>
              <a:gd name="adj" fmla="val 6154"/>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21" name="Text 19"/>
          <p:cNvSpPr txBox="1"/>
          <p:nvPr/>
        </p:nvSpPr>
        <p:spPr>
          <a:xfrm>
            <a:off x="822960" y="4892040"/>
            <a:ext cx="10545775" cy="822960"/>
          </a:xfrm>
          <a:prstGeom prst="rect">
            <a:avLst/>
          </a:prstGeom>
          <a:noFill/>
          <a:ln/>
        </p:spPr>
        <p:txBody>
          <a:bodyPr wrap="square" lIns="0" tIns="0" rIns="0" bIns="0" rtlCol="0" anchor="ctr"/>
          <a:lstStyle/>
          <a:p>
            <a:pPr indent="0" marL="0">
              <a:buNone/>
            </a:pPr>
            <a:r>
              <a:rPr lang="en-US" sz="1400" b="1" dirty="0">
                <a:solidFill>
                  <a:srgbClr val="E0574E"/>
                </a:solidFill>
                <a:latin typeface="Calibri" pitchFamily="34" charset="0"/>
                <a:ea typeface="Calibri" pitchFamily="34" charset="-122"/>
                <a:cs typeface="Calibri" pitchFamily="34" charset="-120"/>
              </a:rPr>
              <a:t>Garde-fou de sécurité : </a:t>
            </a:r>
            <a:pPr indent="0" marL="0">
              <a:buNone/>
            </a:pPr>
            <a:r>
              <a:rPr lang="en-US" sz="1400" dirty="0">
                <a:solidFill>
                  <a:srgbClr val="1B2733"/>
                </a:solidFill>
                <a:latin typeface="Calibri" pitchFamily="34" charset="0"/>
                <a:ea typeface="Calibri" pitchFamily="34" charset="-122"/>
                <a:cs typeface="Calibri" pitchFamily="34" charset="-120"/>
              </a:rPr>
              <a:t>l'assistant est en lecture seule, sans aucun droit privilégié sur le système. Il ne se confond pas avec le moteur de remédiation et ne peut pas le piloter.</a:t>
            </a:r>
            <a:endParaRPr lang="en-US" sz="1400" dirty="0"/>
          </a:p>
        </p:txBody>
      </p:sp>
      <p:sp>
        <p:nvSpPr>
          <p:cNvPr id="22" name="Text 20"/>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63707E"/>
                </a:solidFill>
                <a:latin typeface="Calibri" pitchFamily="34" charset="0"/>
                <a:ea typeface="Calibri" pitchFamily="34" charset="-122"/>
                <a:cs typeface="Calibri" pitchFamily="34" charset="-120"/>
              </a:rPr>
              <a:t>09</a:t>
            </a:r>
            <a:endParaRPr lang="en-US" sz="1000" dirty="0"/>
          </a:p>
        </p:txBody>
      </p:sp>
      <p:sp>
        <p:nvSpPr>
          <p:cNvPr id="23" name="Text 21"/>
          <p:cNvSpPr txBox="1"/>
          <p:nvPr/>
        </p:nvSpPr>
        <p:spPr>
          <a:xfrm>
            <a:off x="548640" y="6400800"/>
            <a:ext cx="4572000" cy="274320"/>
          </a:xfrm>
          <a:prstGeom prst="rect">
            <a:avLst/>
          </a:prstGeom>
          <a:noFill/>
          <a:ln/>
        </p:spPr>
        <p:txBody>
          <a:bodyPr wrap="square" lIns="0" tIns="0" rIns="0" bIns="0" rtlCol="0" anchor="ctr"/>
          <a:lstStyle/>
          <a:p>
            <a:pPr indent="0" marL="0">
              <a:buNone/>
            </a:pPr>
            <a:r>
              <a:rPr lang="en-US" sz="900" dirty="0">
                <a:solidFill>
                  <a:srgbClr val="63707E"/>
                </a:solidFill>
                <a:latin typeface="Calibri" pitchFamily="34" charset="0"/>
                <a:ea typeface="Calibri" pitchFamily="34" charset="-122"/>
                <a:cs typeface="Calibri" pitchFamily="34" charset="-120"/>
              </a:rPr>
              <a:t>Project Resilience-Alpha</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2BC39A"/>
                </a:solidFill>
                <a:latin typeface="Calibri" pitchFamily="34" charset="0"/>
                <a:ea typeface="Calibri" pitchFamily="34" charset="-122"/>
                <a:cs typeface="Calibri" pitchFamily="34" charset="-120"/>
              </a:rPr>
              <a:t>CŒUR DU SUJET · REMÉDIATION</a:t>
            </a:r>
            <a:endParaRPr lang="en-US" sz="1200" dirty="0"/>
          </a:p>
        </p:txBody>
      </p:sp>
      <p:sp>
        <p:nvSpPr>
          <p:cNvPr id="3" name="Text 1"/>
          <p:cNvSpPr txBox="1"/>
          <p:nvPr/>
        </p:nvSpPr>
        <p:spPr>
          <a:xfrm>
            <a:off x="548640" y="749808"/>
            <a:ext cx="11094415" cy="822960"/>
          </a:xfrm>
          <a:prstGeom prst="rect">
            <a:avLst/>
          </a:prstGeom>
          <a:noFill/>
          <a:ln/>
        </p:spPr>
        <p:txBody>
          <a:bodyPr wrap="square" lIns="0" tIns="0" rIns="0" bIns="0" rtlCol="0" anchor="ctr"/>
          <a:lstStyle/>
          <a:p>
            <a:pPr indent="0" marL="0">
              <a:buNone/>
            </a:pPr>
            <a:r>
              <a:rPr lang="en-US" sz="3200" b="1" dirty="0">
                <a:solidFill>
                  <a:srgbClr val="1B2733"/>
                </a:solidFill>
                <a:latin typeface="Calibri" pitchFamily="34" charset="0"/>
                <a:ea typeface="Calibri" pitchFamily="34" charset="-122"/>
                <a:cs typeface="Calibri" pitchFamily="34" charset="-120"/>
              </a:rPr>
              <a:t>La reprise autonome, en boucle fermée</a:t>
            </a:r>
            <a:endParaRPr lang="en-US" sz="3200" dirty="0"/>
          </a:p>
        </p:txBody>
      </p:sp>
      <p:sp>
        <p:nvSpPr>
          <p:cNvPr id="4" name="Shape 2"/>
          <p:cNvSpPr/>
          <p:nvPr/>
        </p:nvSpPr>
        <p:spPr>
          <a:xfrm>
            <a:off x="548640" y="2011680"/>
            <a:ext cx="1965960" cy="1737360"/>
          </a:xfrm>
          <a:prstGeom prst="roundRect">
            <a:avLst>
              <a:gd name="adj" fmla="val 4211"/>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5" name="Shape 3"/>
          <p:cNvSpPr/>
          <p:nvPr/>
        </p:nvSpPr>
        <p:spPr>
          <a:xfrm>
            <a:off x="1257300" y="2240280"/>
            <a:ext cx="548640" cy="548640"/>
          </a:xfrm>
          <a:prstGeom prst="ellipse">
            <a:avLst/>
          </a:prstGeom>
          <a:solidFill>
            <a:srgbClr val="1C9BB0"/>
          </a:solidFill>
          <a:ln/>
        </p:spPr>
      </p:sp>
      <p:sp>
        <p:nvSpPr>
          <p:cNvPr id="6" name="Text 4"/>
          <p:cNvSpPr txBox="1"/>
          <p:nvPr/>
        </p:nvSpPr>
        <p:spPr>
          <a:xfrm>
            <a:off x="1257300" y="22219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640080" y="2880360"/>
            <a:ext cx="1783080" cy="365760"/>
          </a:xfrm>
          <a:prstGeom prst="rect">
            <a:avLst/>
          </a:prstGeom>
          <a:noFill/>
          <a:ln/>
        </p:spPr>
        <p:txBody>
          <a:bodyPr wrap="square" lIns="0" tIns="0" rIns="0" bIns="0" rtlCol="0" anchor="ctr"/>
          <a:lstStyle/>
          <a:p>
            <a:pPr algn="ctr" indent="0" marL="0">
              <a:buNone/>
            </a:pPr>
            <a:r>
              <a:rPr lang="en-US" sz="1500" b="1" dirty="0">
                <a:solidFill>
                  <a:srgbClr val="1B2733"/>
                </a:solidFill>
                <a:latin typeface="Calibri" pitchFamily="34" charset="0"/>
                <a:ea typeface="Calibri" pitchFamily="34" charset="-122"/>
                <a:cs typeface="Calibri" pitchFamily="34" charset="-120"/>
              </a:rPr>
              <a:t>Détection</a:t>
            </a:r>
            <a:endParaRPr lang="en-US" sz="1500" dirty="0"/>
          </a:p>
        </p:txBody>
      </p:sp>
      <p:sp>
        <p:nvSpPr>
          <p:cNvPr id="8" name="Text 6"/>
          <p:cNvSpPr txBox="1"/>
          <p:nvPr/>
        </p:nvSpPr>
        <p:spPr>
          <a:xfrm>
            <a:off x="640080" y="3246120"/>
            <a:ext cx="1783080" cy="457200"/>
          </a:xfrm>
          <a:prstGeom prst="rect">
            <a:avLst/>
          </a:prstGeom>
          <a:noFill/>
          <a:ln/>
        </p:spPr>
        <p:txBody>
          <a:bodyPr wrap="square" lIns="0" tIns="0" rIns="0" bIns="0" rtlCol="0" anchor="ctr"/>
          <a:lstStyle/>
          <a:p>
            <a:pPr algn="ctr" indent="0" marL="0">
              <a:buNone/>
            </a:pPr>
            <a:r>
              <a:rPr lang="en-US" sz="1150" dirty="0">
                <a:solidFill>
                  <a:srgbClr val="63707E"/>
                </a:solidFill>
                <a:latin typeface="Calibri" pitchFamily="34" charset="0"/>
                <a:ea typeface="Calibri" pitchFamily="34" charset="-122"/>
                <a:cs typeface="Calibri" pitchFamily="34" charset="-120"/>
              </a:rPr>
              <a:t>l'anomalie est signalée</a:t>
            </a:r>
            <a:endParaRPr lang="en-US" sz="1150" dirty="0"/>
          </a:p>
        </p:txBody>
      </p:sp>
      <p:sp>
        <p:nvSpPr>
          <p:cNvPr id="9" name="Text 7"/>
          <p:cNvSpPr txBox="1"/>
          <p:nvPr/>
        </p:nvSpPr>
        <p:spPr>
          <a:xfrm>
            <a:off x="2496312" y="2697480"/>
            <a:ext cx="365760" cy="457200"/>
          </a:xfrm>
          <a:prstGeom prst="rect">
            <a:avLst/>
          </a:prstGeom>
          <a:noFill/>
          <a:ln/>
        </p:spPr>
        <p:txBody>
          <a:bodyPr wrap="square" lIns="0" tIns="0" rIns="0" bIns="0" rtlCol="0" anchor="ctr"/>
          <a:lstStyle/>
          <a:p>
            <a:pPr algn="ctr" indent="0" marL="0">
              <a:buNone/>
            </a:pPr>
            <a:r>
              <a:rPr lang="en-US" sz="1800" b="1" dirty="0">
                <a:solidFill>
                  <a:srgbClr val="63707E"/>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2788920" y="2011680"/>
            <a:ext cx="1965960" cy="1737360"/>
          </a:xfrm>
          <a:prstGeom prst="roundRect">
            <a:avLst>
              <a:gd name="adj" fmla="val 4211"/>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11" name="Shape 9"/>
          <p:cNvSpPr/>
          <p:nvPr/>
        </p:nvSpPr>
        <p:spPr>
          <a:xfrm>
            <a:off x="3497580" y="2240280"/>
            <a:ext cx="548640" cy="548640"/>
          </a:xfrm>
          <a:prstGeom prst="ellipse">
            <a:avLst/>
          </a:prstGeom>
          <a:solidFill>
            <a:srgbClr val="E6A23C"/>
          </a:solidFill>
          <a:ln/>
        </p:spPr>
      </p:sp>
      <p:sp>
        <p:nvSpPr>
          <p:cNvPr id="12" name="Text 10"/>
          <p:cNvSpPr txBox="1"/>
          <p:nvPr/>
        </p:nvSpPr>
        <p:spPr>
          <a:xfrm>
            <a:off x="3497580" y="22219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2880360" y="2880360"/>
            <a:ext cx="1783080" cy="365760"/>
          </a:xfrm>
          <a:prstGeom prst="rect">
            <a:avLst/>
          </a:prstGeom>
          <a:noFill/>
          <a:ln/>
        </p:spPr>
        <p:txBody>
          <a:bodyPr wrap="square" lIns="0" tIns="0" rIns="0" bIns="0" rtlCol="0" anchor="ctr"/>
          <a:lstStyle/>
          <a:p>
            <a:pPr algn="ctr" indent="0" marL="0">
              <a:buNone/>
            </a:pPr>
            <a:r>
              <a:rPr lang="en-US" sz="1500" b="1" dirty="0">
                <a:solidFill>
                  <a:srgbClr val="1B2733"/>
                </a:solidFill>
                <a:latin typeface="Calibri" pitchFamily="34" charset="0"/>
                <a:ea typeface="Calibri" pitchFamily="34" charset="-122"/>
                <a:cs typeface="Calibri" pitchFamily="34" charset="-120"/>
              </a:rPr>
              <a:t>Décision</a:t>
            </a:r>
            <a:endParaRPr lang="en-US" sz="1500" dirty="0"/>
          </a:p>
        </p:txBody>
      </p:sp>
      <p:sp>
        <p:nvSpPr>
          <p:cNvPr id="14" name="Text 12"/>
          <p:cNvSpPr txBox="1"/>
          <p:nvPr/>
        </p:nvSpPr>
        <p:spPr>
          <a:xfrm>
            <a:off x="2880360" y="3246120"/>
            <a:ext cx="1783080" cy="457200"/>
          </a:xfrm>
          <a:prstGeom prst="rect">
            <a:avLst/>
          </a:prstGeom>
          <a:noFill/>
          <a:ln/>
        </p:spPr>
        <p:txBody>
          <a:bodyPr wrap="square" lIns="0" tIns="0" rIns="0" bIns="0" rtlCol="0" anchor="ctr"/>
          <a:lstStyle/>
          <a:p>
            <a:pPr algn="ctr" indent="0" marL="0">
              <a:buNone/>
            </a:pPr>
            <a:r>
              <a:rPr lang="en-US" sz="1150" dirty="0">
                <a:solidFill>
                  <a:srgbClr val="63707E"/>
                </a:solidFill>
                <a:latin typeface="Calibri" pitchFamily="34" charset="0"/>
                <a:ea typeface="Calibri" pitchFamily="34" charset="-122"/>
                <a:cs typeface="Calibri" pitchFamily="34" charset="-120"/>
              </a:rPr>
              <a:t>plan d'action selon le driver</a:t>
            </a:r>
            <a:endParaRPr lang="en-US" sz="1150" dirty="0"/>
          </a:p>
        </p:txBody>
      </p:sp>
      <p:sp>
        <p:nvSpPr>
          <p:cNvPr id="15" name="Text 13"/>
          <p:cNvSpPr txBox="1"/>
          <p:nvPr/>
        </p:nvSpPr>
        <p:spPr>
          <a:xfrm>
            <a:off x="4736592" y="2697480"/>
            <a:ext cx="365760" cy="457200"/>
          </a:xfrm>
          <a:prstGeom prst="rect">
            <a:avLst/>
          </a:prstGeom>
          <a:noFill/>
          <a:ln/>
        </p:spPr>
        <p:txBody>
          <a:bodyPr wrap="square" lIns="0" tIns="0" rIns="0" bIns="0" rtlCol="0" anchor="ctr"/>
          <a:lstStyle/>
          <a:p>
            <a:pPr algn="ctr" indent="0" marL="0">
              <a:buNone/>
            </a:pPr>
            <a:r>
              <a:rPr lang="en-US" sz="1800" b="1" dirty="0">
                <a:solidFill>
                  <a:srgbClr val="63707E"/>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5029200" y="2011680"/>
            <a:ext cx="1965960" cy="1737360"/>
          </a:xfrm>
          <a:prstGeom prst="roundRect">
            <a:avLst>
              <a:gd name="adj" fmla="val 4211"/>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17" name="Shape 15"/>
          <p:cNvSpPr/>
          <p:nvPr/>
        </p:nvSpPr>
        <p:spPr>
          <a:xfrm>
            <a:off x="5737860" y="2240280"/>
            <a:ext cx="548640" cy="548640"/>
          </a:xfrm>
          <a:prstGeom prst="ellipse">
            <a:avLst/>
          </a:prstGeom>
          <a:solidFill>
            <a:srgbClr val="E6A23C"/>
          </a:solidFill>
          <a:ln/>
        </p:spPr>
      </p:sp>
      <p:sp>
        <p:nvSpPr>
          <p:cNvPr id="18" name="Text 16"/>
          <p:cNvSpPr txBox="1"/>
          <p:nvPr/>
        </p:nvSpPr>
        <p:spPr>
          <a:xfrm>
            <a:off x="5737860" y="22219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5120640" y="2880360"/>
            <a:ext cx="1783080" cy="365760"/>
          </a:xfrm>
          <a:prstGeom prst="rect">
            <a:avLst/>
          </a:prstGeom>
          <a:noFill/>
          <a:ln/>
        </p:spPr>
        <p:txBody>
          <a:bodyPr wrap="square" lIns="0" tIns="0" rIns="0" bIns="0" rtlCol="0" anchor="ctr"/>
          <a:lstStyle/>
          <a:p>
            <a:pPr algn="ctr" indent="0" marL="0">
              <a:buNone/>
            </a:pPr>
            <a:r>
              <a:rPr lang="en-US" sz="1500" b="1" dirty="0">
                <a:solidFill>
                  <a:srgbClr val="1B2733"/>
                </a:solidFill>
                <a:latin typeface="Calibri" pitchFamily="34" charset="0"/>
                <a:ea typeface="Calibri" pitchFamily="34" charset="-122"/>
                <a:cs typeface="Calibri" pitchFamily="34" charset="-120"/>
              </a:rPr>
              <a:t>Action</a:t>
            </a:r>
            <a:endParaRPr lang="en-US" sz="1500" dirty="0"/>
          </a:p>
        </p:txBody>
      </p:sp>
      <p:sp>
        <p:nvSpPr>
          <p:cNvPr id="20" name="Text 18"/>
          <p:cNvSpPr txBox="1"/>
          <p:nvPr/>
        </p:nvSpPr>
        <p:spPr>
          <a:xfrm>
            <a:off x="5120640" y="3246120"/>
            <a:ext cx="1783080" cy="457200"/>
          </a:xfrm>
          <a:prstGeom prst="rect">
            <a:avLst/>
          </a:prstGeom>
          <a:noFill/>
          <a:ln/>
        </p:spPr>
        <p:txBody>
          <a:bodyPr wrap="square" lIns="0" tIns="0" rIns="0" bIns="0" rtlCol="0" anchor="ctr"/>
          <a:lstStyle/>
          <a:p>
            <a:pPr algn="ctr" indent="0" marL="0">
              <a:buNone/>
            </a:pPr>
            <a:r>
              <a:rPr lang="en-US" sz="1150" dirty="0">
                <a:solidFill>
                  <a:srgbClr val="63707E"/>
                </a:solidFill>
                <a:latin typeface="Calibri" pitchFamily="34" charset="0"/>
                <a:ea typeface="Calibri" pitchFamily="34" charset="-122"/>
                <a:cs typeface="Calibri" pitchFamily="34" charset="-120"/>
              </a:rPr>
              <a:t>restart / durcissement / isolation</a:t>
            </a:r>
            <a:endParaRPr lang="en-US" sz="1150" dirty="0"/>
          </a:p>
        </p:txBody>
      </p:sp>
      <p:sp>
        <p:nvSpPr>
          <p:cNvPr id="21" name="Text 19"/>
          <p:cNvSpPr txBox="1"/>
          <p:nvPr/>
        </p:nvSpPr>
        <p:spPr>
          <a:xfrm>
            <a:off x="6976872" y="2697480"/>
            <a:ext cx="365760" cy="457200"/>
          </a:xfrm>
          <a:prstGeom prst="rect">
            <a:avLst/>
          </a:prstGeom>
          <a:noFill/>
          <a:ln/>
        </p:spPr>
        <p:txBody>
          <a:bodyPr wrap="square" lIns="0" tIns="0" rIns="0" bIns="0" rtlCol="0" anchor="ctr"/>
          <a:lstStyle/>
          <a:p>
            <a:pPr algn="ctr" indent="0" marL="0">
              <a:buNone/>
            </a:pPr>
            <a:r>
              <a:rPr lang="en-US" sz="1800" b="1" dirty="0">
                <a:solidFill>
                  <a:srgbClr val="63707E"/>
                </a:solidFill>
                <a:latin typeface="Calibri" pitchFamily="34" charset="0"/>
                <a:ea typeface="Calibri" pitchFamily="34" charset="-122"/>
                <a:cs typeface="Calibri" pitchFamily="34" charset="-120"/>
              </a:rPr>
              <a:t>→</a:t>
            </a:r>
            <a:endParaRPr lang="en-US" sz="1800" dirty="0"/>
          </a:p>
        </p:txBody>
      </p:sp>
      <p:sp>
        <p:nvSpPr>
          <p:cNvPr id="22" name="Shape 20"/>
          <p:cNvSpPr/>
          <p:nvPr/>
        </p:nvSpPr>
        <p:spPr>
          <a:xfrm>
            <a:off x="7269480" y="2011680"/>
            <a:ext cx="1965960" cy="1737360"/>
          </a:xfrm>
          <a:prstGeom prst="roundRect">
            <a:avLst>
              <a:gd name="adj" fmla="val 4211"/>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23" name="Shape 21"/>
          <p:cNvSpPr/>
          <p:nvPr/>
        </p:nvSpPr>
        <p:spPr>
          <a:xfrm>
            <a:off x="7978140" y="2240280"/>
            <a:ext cx="548640" cy="548640"/>
          </a:xfrm>
          <a:prstGeom prst="ellipse">
            <a:avLst/>
          </a:prstGeom>
          <a:solidFill>
            <a:srgbClr val="2BC39A"/>
          </a:solidFill>
          <a:ln/>
        </p:spPr>
      </p:sp>
      <p:sp>
        <p:nvSpPr>
          <p:cNvPr id="24" name="Text 22"/>
          <p:cNvSpPr txBox="1"/>
          <p:nvPr/>
        </p:nvSpPr>
        <p:spPr>
          <a:xfrm>
            <a:off x="7978140" y="22219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txBox="1"/>
          <p:nvPr/>
        </p:nvSpPr>
        <p:spPr>
          <a:xfrm>
            <a:off x="7360920" y="2880360"/>
            <a:ext cx="1783080" cy="365760"/>
          </a:xfrm>
          <a:prstGeom prst="rect">
            <a:avLst/>
          </a:prstGeom>
          <a:noFill/>
          <a:ln/>
        </p:spPr>
        <p:txBody>
          <a:bodyPr wrap="square" lIns="0" tIns="0" rIns="0" bIns="0" rtlCol="0" anchor="ctr"/>
          <a:lstStyle/>
          <a:p>
            <a:pPr algn="ctr" indent="0" marL="0">
              <a:buNone/>
            </a:pPr>
            <a:r>
              <a:rPr lang="en-US" sz="1500" b="1" dirty="0">
                <a:solidFill>
                  <a:srgbClr val="1B2733"/>
                </a:solidFill>
                <a:latin typeface="Calibri" pitchFamily="34" charset="0"/>
                <a:ea typeface="Calibri" pitchFamily="34" charset="-122"/>
                <a:cs typeface="Calibri" pitchFamily="34" charset="-120"/>
              </a:rPr>
              <a:t>Vérification</a:t>
            </a:r>
            <a:endParaRPr lang="en-US" sz="1500" dirty="0"/>
          </a:p>
        </p:txBody>
      </p:sp>
      <p:sp>
        <p:nvSpPr>
          <p:cNvPr id="26" name="Text 24"/>
          <p:cNvSpPr txBox="1"/>
          <p:nvPr/>
        </p:nvSpPr>
        <p:spPr>
          <a:xfrm>
            <a:off x="7360920" y="3246120"/>
            <a:ext cx="1783080" cy="457200"/>
          </a:xfrm>
          <a:prstGeom prst="rect">
            <a:avLst/>
          </a:prstGeom>
          <a:noFill/>
          <a:ln/>
        </p:spPr>
        <p:txBody>
          <a:bodyPr wrap="square" lIns="0" tIns="0" rIns="0" bIns="0" rtlCol="0" anchor="ctr"/>
          <a:lstStyle/>
          <a:p>
            <a:pPr algn="ctr" indent="0" marL="0">
              <a:buNone/>
            </a:pPr>
            <a:r>
              <a:rPr lang="en-US" sz="1150" dirty="0">
                <a:solidFill>
                  <a:srgbClr val="63707E"/>
                </a:solidFill>
                <a:latin typeface="Calibri" pitchFamily="34" charset="0"/>
                <a:ea typeface="Calibri" pitchFamily="34" charset="-122"/>
                <a:cs typeface="Calibri" pitchFamily="34" charset="-120"/>
              </a:rPr>
              <a:t>santé profonde + transaction test</a:t>
            </a:r>
            <a:endParaRPr lang="en-US" sz="1150" dirty="0"/>
          </a:p>
        </p:txBody>
      </p:sp>
      <p:sp>
        <p:nvSpPr>
          <p:cNvPr id="27" name="Text 25"/>
          <p:cNvSpPr txBox="1"/>
          <p:nvPr/>
        </p:nvSpPr>
        <p:spPr>
          <a:xfrm>
            <a:off x="9217152" y="2697480"/>
            <a:ext cx="365760" cy="457200"/>
          </a:xfrm>
          <a:prstGeom prst="rect">
            <a:avLst/>
          </a:prstGeom>
          <a:noFill/>
          <a:ln/>
        </p:spPr>
        <p:txBody>
          <a:bodyPr wrap="square" lIns="0" tIns="0" rIns="0" bIns="0" rtlCol="0" anchor="ctr"/>
          <a:lstStyle/>
          <a:p>
            <a:pPr algn="ctr" indent="0" marL="0">
              <a:buNone/>
            </a:pPr>
            <a:r>
              <a:rPr lang="en-US" sz="1800" b="1" dirty="0">
                <a:solidFill>
                  <a:srgbClr val="63707E"/>
                </a:solidFill>
                <a:latin typeface="Calibri" pitchFamily="34" charset="0"/>
                <a:ea typeface="Calibri" pitchFamily="34" charset="-122"/>
                <a:cs typeface="Calibri" pitchFamily="34" charset="-120"/>
              </a:rPr>
              <a:t>→</a:t>
            </a:r>
            <a:endParaRPr lang="en-US" sz="1800" dirty="0"/>
          </a:p>
        </p:txBody>
      </p:sp>
      <p:sp>
        <p:nvSpPr>
          <p:cNvPr id="28" name="Shape 26"/>
          <p:cNvSpPr/>
          <p:nvPr/>
        </p:nvSpPr>
        <p:spPr>
          <a:xfrm>
            <a:off x="9509760" y="2011680"/>
            <a:ext cx="1965960" cy="1737360"/>
          </a:xfrm>
          <a:prstGeom prst="roundRect">
            <a:avLst>
              <a:gd name="adj" fmla="val 4211"/>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29" name="Shape 27"/>
          <p:cNvSpPr/>
          <p:nvPr/>
        </p:nvSpPr>
        <p:spPr>
          <a:xfrm>
            <a:off x="10218420" y="2240280"/>
            <a:ext cx="548640" cy="548640"/>
          </a:xfrm>
          <a:prstGeom prst="ellipse">
            <a:avLst/>
          </a:prstGeom>
          <a:solidFill>
            <a:srgbClr val="2BC39A"/>
          </a:solidFill>
          <a:ln/>
        </p:spPr>
      </p:sp>
      <p:sp>
        <p:nvSpPr>
          <p:cNvPr id="30" name="Text 28"/>
          <p:cNvSpPr txBox="1"/>
          <p:nvPr/>
        </p:nvSpPr>
        <p:spPr>
          <a:xfrm>
            <a:off x="10218420" y="22219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1" name="Text 29"/>
          <p:cNvSpPr txBox="1"/>
          <p:nvPr/>
        </p:nvSpPr>
        <p:spPr>
          <a:xfrm>
            <a:off x="9601200" y="2880360"/>
            <a:ext cx="1783080" cy="365760"/>
          </a:xfrm>
          <a:prstGeom prst="rect">
            <a:avLst/>
          </a:prstGeom>
          <a:noFill/>
          <a:ln/>
        </p:spPr>
        <p:txBody>
          <a:bodyPr wrap="square" lIns="0" tIns="0" rIns="0" bIns="0" rtlCol="0" anchor="ctr"/>
          <a:lstStyle/>
          <a:p>
            <a:pPr algn="ctr" indent="0" marL="0">
              <a:buNone/>
            </a:pPr>
            <a:r>
              <a:rPr lang="en-US" sz="1500" b="1" dirty="0">
                <a:solidFill>
                  <a:srgbClr val="1B2733"/>
                </a:solidFill>
                <a:latin typeface="Calibri" pitchFamily="34" charset="0"/>
                <a:ea typeface="Calibri" pitchFamily="34" charset="-122"/>
                <a:cs typeface="Calibri" pitchFamily="34" charset="-120"/>
              </a:rPr>
              <a:t>Clôture</a:t>
            </a:r>
            <a:endParaRPr lang="en-US" sz="1500" dirty="0"/>
          </a:p>
        </p:txBody>
      </p:sp>
      <p:sp>
        <p:nvSpPr>
          <p:cNvPr id="32" name="Text 30"/>
          <p:cNvSpPr txBox="1"/>
          <p:nvPr/>
        </p:nvSpPr>
        <p:spPr>
          <a:xfrm>
            <a:off x="9601200" y="3246120"/>
            <a:ext cx="1783080" cy="457200"/>
          </a:xfrm>
          <a:prstGeom prst="rect">
            <a:avLst/>
          </a:prstGeom>
          <a:noFill/>
          <a:ln/>
        </p:spPr>
        <p:txBody>
          <a:bodyPr wrap="square" lIns="0" tIns="0" rIns="0" bIns="0" rtlCol="0" anchor="ctr"/>
          <a:lstStyle/>
          <a:p>
            <a:pPr algn="ctr" indent="0" marL="0">
              <a:buNone/>
            </a:pPr>
            <a:r>
              <a:rPr lang="en-US" sz="1150" dirty="0">
                <a:solidFill>
                  <a:srgbClr val="63707E"/>
                </a:solidFill>
                <a:latin typeface="Calibri" pitchFamily="34" charset="0"/>
                <a:ea typeface="Calibri" pitchFamily="34" charset="-122"/>
                <a:cs typeface="Calibri" pitchFamily="34" charset="-120"/>
              </a:rPr>
              <a:t>ou nouvelle tentative (max 3)</a:t>
            </a:r>
            <a:endParaRPr lang="en-US" sz="1150" dirty="0"/>
          </a:p>
        </p:txBody>
      </p:sp>
      <p:sp>
        <p:nvSpPr>
          <p:cNvPr id="33" name="Shape 31"/>
          <p:cNvSpPr/>
          <p:nvPr/>
        </p:nvSpPr>
        <p:spPr>
          <a:xfrm>
            <a:off x="548640" y="4114800"/>
            <a:ext cx="5486400" cy="1783080"/>
          </a:xfrm>
          <a:prstGeom prst="roundRect">
            <a:avLst>
              <a:gd name="adj" fmla="val 4103"/>
            </a:avLst>
          </a:prstGeom>
          <a:solidFill>
            <a:srgbClr val="0E1F38"/>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34" name="Text 32"/>
          <p:cNvSpPr txBox="1"/>
          <p:nvPr/>
        </p:nvSpPr>
        <p:spPr>
          <a:xfrm>
            <a:off x="822960" y="4343400"/>
            <a:ext cx="4937760" cy="365760"/>
          </a:xfrm>
          <a:prstGeom prst="rect">
            <a:avLst/>
          </a:prstGeom>
          <a:noFill/>
          <a:ln/>
        </p:spPr>
        <p:txBody>
          <a:bodyPr wrap="square" lIns="0" tIns="0" rIns="0" bIns="0" rtlCol="0" anchor="ctr"/>
          <a:lstStyle/>
          <a:p>
            <a:pPr indent="0" marL="0">
              <a:buNone/>
            </a:pPr>
            <a:r>
              <a:rPr lang="en-US" sz="1600" b="1" dirty="0">
                <a:solidFill>
                  <a:srgbClr val="2BC39A"/>
                </a:solidFill>
                <a:latin typeface="Calibri" pitchFamily="34" charset="0"/>
                <a:ea typeface="Calibri" pitchFamily="34" charset="-122"/>
                <a:cs typeface="Calibri" pitchFamily="34" charset="-120"/>
              </a:rPr>
              <a:t>Reprise RÉELLE, pas cosmétique</a:t>
            </a:r>
            <a:endParaRPr lang="en-US" sz="1600" dirty="0"/>
          </a:p>
        </p:txBody>
      </p:sp>
      <p:sp>
        <p:nvSpPr>
          <p:cNvPr id="35" name="Text 33"/>
          <p:cNvSpPr txBox="1"/>
          <p:nvPr/>
        </p:nvSpPr>
        <p:spPr>
          <a:xfrm>
            <a:off x="822960" y="4754880"/>
            <a:ext cx="4937760" cy="1005840"/>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Une reprise n'est déclarée que si la vérification métier réussit : base lisible ET nouvelle transaction fictive aboutie. Un conteneur qui redémarre ne suffit pas.</a:t>
            </a:r>
            <a:endParaRPr lang="en-US" sz="1350" dirty="0"/>
          </a:p>
        </p:txBody>
      </p:sp>
      <p:sp>
        <p:nvSpPr>
          <p:cNvPr id="36" name="Shape 34"/>
          <p:cNvSpPr/>
          <p:nvPr/>
        </p:nvSpPr>
        <p:spPr>
          <a:xfrm>
            <a:off x="6309360" y="4114800"/>
            <a:ext cx="5333695" cy="1783080"/>
          </a:xfrm>
          <a:prstGeom prst="roundRect">
            <a:avLst>
              <a:gd name="adj" fmla="val 4103"/>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37" name="Text 35"/>
          <p:cNvSpPr txBox="1"/>
          <p:nvPr/>
        </p:nvSpPr>
        <p:spPr>
          <a:xfrm>
            <a:off x="6583680" y="4343400"/>
            <a:ext cx="4937760" cy="365760"/>
          </a:xfrm>
          <a:prstGeom prst="rect">
            <a:avLst/>
          </a:prstGeom>
          <a:noFill/>
          <a:ln/>
        </p:spPr>
        <p:txBody>
          <a:bodyPr wrap="square" lIns="0" tIns="0" rIns="0" bIns="0" rtlCol="0" anchor="ctr"/>
          <a:lstStyle/>
          <a:p>
            <a:pPr indent="0" marL="0">
              <a:buNone/>
            </a:pPr>
            <a:r>
              <a:rPr lang="en-US" sz="1600" b="1" dirty="0">
                <a:solidFill>
                  <a:srgbClr val="E0574E"/>
                </a:solidFill>
                <a:latin typeface="Calibri" pitchFamily="34" charset="0"/>
                <a:ea typeface="Calibri" pitchFamily="34" charset="-122"/>
                <a:cs typeface="Calibri" pitchFamily="34" charset="-120"/>
              </a:rPr>
              <a:t>Garde-fou du composant privilégié</a:t>
            </a:r>
            <a:endParaRPr lang="en-US" sz="1600" dirty="0"/>
          </a:p>
        </p:txBody>
      </p:sp>
      <p:sp>
        <p:nvSpPr>
          <p:cNvPr id="38" name="Text 36"/>
          <p:cNvSpPr txBox="1"/>
          <p:nvPr/>
        </p:nvSpPr>
        <p:spPr>
          <a:xfrm>
            <a:off x="6583680" y="4754880"/>
            <a:ext cx="5029200" cy="1005840"/>
          </a:xfrm>
          <a:prstGeom prst="rect">
            <a:avLst/>
          </a:prstGeom>
          <a:noFill/>
          <a:ln/>
        </p:spPr>
        <p:txBody>
          <a:bodyPr wrap="square" lIns="0" tIns="0" rIns="0" bIns="0" rtlCol="0" anchor="ctr"/>
          <a:lstStyle/>
          <a:p>
            <a:pPr indent="0" marL="0">
              <a:buNone/>
            </a:pPr>
            <a:r>
              <a:rPr lang="en-US" sz="1350" dirty="0">
                <a:solidFill>
                  <a:srgbClr val="1B2733"/>
                </a:solidFill>
                <a:latin typeface="Calibri" pitchFamily="34" charset="0"/>
                <a:ea typeface="Calibri" pitchFamily="34" charset="-122"/>
                <a:cs typeface="Calibri" pitchFamily="34" charset="-120"/>
              </a:rPr>
              <a:t>Le moteur a des droits élevés : il n'expose donc AUCUN shell distant, seulement une liste fermée d'actions, toutes journalisées, avec un jeton à portée limitée.</a:t>
            </a:r>
            <a:endParaRPr lang="en-US" sz="1350" dirty="0"/>
          </a:p>
        </p:txBody>
      </p:sp>
      <p:sp>
        <p:nvSpPr>
          <p:cNvPr id="39" name="Text 37"/>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63707E"/>
                </a:solidFill>
                <a:latin typeface="Calibri" pitchFamily="34" charset="0"/>
                <a:ea typeface="Calibri" pitchFamily="34" charset="-122"/>
                <a:cs typeface="Calibri" pitchFamily="34" charset="-120"/>
              </a:rPr>
              <a:t>10</a:t>
            </a:r>
            <a:endParaRPr lang="en-US" sz="1000" dirty="0"/>
          </a:p>
        </p:txBody>
      </p:sp>
      <p:sp>
        <p:nvSpPr>
          <p:cNvPr id="40" name="Text 38"/>
          <p:cNvSpPr txBox="1"/>
          <p:nvPr/>
        </p:nvSpPr>
        <p:spPr>
          <a:xfrm>
            <a:off x="548640" y="6400800"/>
            <a:ext cx="4572000" cy="274320"/>
          </a:xfrm>
          <a:prstGeom prst="rect">
            <a:avLst/>
          </a:prstGeom>
          <a:noFill/>
          <a:ln/>
        </p:spPr>
        <p:txBody>
          <a:bodyPr wrap="square" lIns="0" tIns="0" rIns="0" bIns="0" rtlCol="0" anchor="ctr"/>
          <a:lstStyle/>
          <a:p>
            <a:pPr indent="0" marL="0">
              <a:buNone/>
            </a:pPr>
            <a:r>
              <a:rPr lang="en-US" sz="900" dirty="0">
                <a:solidFill>
                  <a:srgbClr val="63707E"/>
                </a:solidFill>
                <a:latin typeface="Calibri" pitchFamily="34" charset="0"/>
                <a:ea typeface="Calibri" pitchFamily="34" charset="-122"/>
                <a:cs typeface="Calibri" pitchFamily="34" charset="-120"/>
              </a:rPr>
              <a:t>Project Resilience-Alpha</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F38"/>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E0574E"/>
                </a:solidFill>
                <a:latin typeface="Calibri" pitchFamily="34" charset="0"/>
                <a:ea typeface="Calibri" pitchFamily="34" charset="-122"/>
                <a:cs typeface="Calibri" pitchFamily="34" charset="-120"/>
              </a:rPr>
              <a:t>DOMAINE · CYBERSÉCURITÉ</a:t>
            </a:r>
            <a:endParaRPr lang="en-US" sz="1200" dirty="0"/>
          </a:p>
        </p:txBody>
      </p:sp>
      <p:sp>
        <p:nvSpPr>
          <p:cNvPr id="3" name="Text 1"/>
          <p:cNvSpPr txBox="1"/>
          <p:nvPr/>
        </p:nvSpPr>
        <p:spPr>
          <a:xfrm>
            <a:off x="548640" y="749808"/>
            <a:ext cx="11094415" cy="82296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Éprouver la plateforme sans sortir du labo</a:t>
            </a:r>
            <a:endParaRPr lang="en-US" sz="3200" dirty="0"/>
          </a:p>
        </p:txBody>
      </p:sp>
      <p:sp>
        <p:nvSpPr>
          <p:cNvPr id="4" name="Shape 2"/>
          <p:cNvSpPr/>
          <p:nvPr/>
        </p:nvSpPr>
        <p:spPr>
          <a:xfrm>
            <a:off x="548640" y="1828800"/>
            <a:ext cx="5303520" cy="1234440"/>
          </a:xfrm>
          <a:prstGeom prst="roundRect">
            <a:avLst>
              <a:gd name="adj" fmla="val 4444"/>
            </a:avLst>
          </a:prstGeom>
          <a:solidFill>
            <a:srgbClr val="17304F"/>
          </a:solidFill>
          <a:ln w="12700">
            <a:solidFill>
              <a:srgbClr val="E0574E"/>
            </a:solidFill>
            <a:prstDash val="solid"/>
          </a:ln>
        </p:spPr>
      </p:sp>
      <p:sp>
        <p:nvSpPr>
          <p:cNvPr id="5" name="Text 3"/>
          <p:cNvSpPr txBox="1"/>
          <p:nvPr/>
        </p:nvSpPr>
        <p:spPr>
          <a:xfrm>
            <a:off x="822960" y="1993392"/>
            <a:ext cx="475488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WAF applicatif</a:t>
            </a:r>
            <a:endParaRPr lang="en-US" sz="1600" dirty="0"/>
          </a:p>
        </p:txBody>
      </p:sp>
      <p:sp>
        <p:nvSpPr>
          <p:cNvPr id="6" name="Text 4"/>
          <p:cNvSpPr txBox="1"/>
          <p:nvPr/>
        </p:nvSpPr>
        <p:spPr>
          <a:xfrm>
            <a:off x="822960" y="2377440"/>
            <a:ext cx="4754880" cy="5943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Filtrage des injections (SQLi, XSS, traversée) + limitation de débit en entrée</a:t>
            </a:r>
            <a:endParaRPr lang="en-US" sz="1300" dirty="0"/>
          </a:p>
        </p:txBody>
      </p:sp>
      <p:sp>
        <p:nvSpPr>
          <p:cNvPr id="7" name="Shape 5"/>
          <p:cNvSpPr/>
          <p:nvPr/>
        </p:nvSpPr>
        <p:spPr>
          <a:xfrm>
            <a:off x="6217920" y="1828800"/>
            <a:ext cx="5303520" cy="1234440"/>
          </a:xfrm>
          <a:prstGeom prst="roundRect">
            <a:avLst>
              <a:gd name="adj" fmla="val 4444"/>
            </a:avLst>
          </a:prstGeom>
          <a:solidFill>
            <a:srgbClr val="17304F"/>
          </a:solidFill>
          <a:ln w="12700">
            <a:solidFill>
              <a:srgbClr val="E0574E"/>
            </a:solidFill>
            <a:prstDash val="solid"/>
          </a:ln>
        </p:spPr>
      </p:sp>
      <p:sp>
        <p:nvSpPr>
          <p:cNvPr id="8" name="Text 6"/>
          <p:cNvSpPr txBox="1"/>
          <p:nvPr/>
        </p:nvSpPr>
        <p:spPr>
          <a:xfrm>
            <a:off x="6492240" y="1993392"/>
            <a:ext cx="475488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Durcissement</a:t>
            </a:r>
            <a:endParaRPr lang="en-US" sz="1600" dirty="0"/>
          </a:p>
        </p:txBody>
      </p:sp>
      <p:sp>
        <p:nvSpPr>
          <p:cNvPr id="9" name="Text 7"/>
          <p:cNvSpPr txBox="1"/>
          <p:nvPr/>
        </p:nvSpPr>
        <p:spPr>
          <a:xfrm>
            <a:off x="6492240" y="2377440"/>
            <a:ext cx="4754880" cy="5943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Conteneurs non-root, capacités réduites, no-new-privileges, surface minimale</a:t>
            </a:r>
            <a:endParaRPr lang="en-US" sz="1300" dirty="0"/>
          </a:p>
        </p:txBody>
      </p:sp>
      <p:sp>
        <p:nvSpPr>
          <p:cNvPr id="10" name="Shape 8"/>
          <p:cNvSpPr/>
          <p:nvPr/>
        </p:nvSpPr>
        <p:spPr>
          <a:xfrm>
            <a:off x="548640" y="3246120"/>
            <a:ext cx="5303520" cy="1234440"/>
          </a:xfrm>
          <a:prstGeom prst="roundRect">
            <a:avLst>
              <a:gd name="adj" fmla="val 4444"/>
            </a:avLst>
          </a:prstGeom>
          <a:solidFill>
            <a:srgbClr val="17304F"/>
          </a:solidFill>
          <a:ln w="12700">
            <a:solidFill>
              <a:srgbClr val="E0574E"/>
            </a:solidFill>
            <a:prstDash val="solid"/>
          </a:ln>
        </p:spPr>
      </p:sp>
      <p:sp>
        <p:nvSpPr>
          <p:cNvPr id="11" name="Text 9"/>
          <p:cNvSpPr txBox="1"/>
          <p:nvPr/>
        </p:nvSpPr>
        <p:spPr>
          <a:xfrm>
            <a:off x="822960" y="3410712"/>
            <a:ext cx="475488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SIEM / traçabilité</a:t>
            </a:r>
            <a:endParaRPr lang="en-US" sz="1600" dirty="0"/>
          </a:p>
        </p:txBody>
      </p:sp>
      <p:sp>
        <p:nvSpPr>
          <p:cNvPr id="12" name="Text 10"/>
          <p:cNvSpPr txBox="1"/>
          <p:nvPr/>
        </p:nvSpPr>
        <p:spPr>
          <a:xfrm>
            <a:off x="822960" y="3794760"/>
            <a:ext cx="4754880" cy="5943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Journaux JSON centralisés dans Loki/Grafana, requêtes bloquées corrélables</a:t>
            </a:r>
            <a:endParaRPr lang="en-US" sz="1300" dirty="0"/>
          </a:p>
        </p:txBody>
      </p:sp>
      <p:sp>
        <p:nvSpPr>
          <p:cNvPr id="13" name="Shape 11"/>
          <p:cNvSpPr/>
          <p:nvPr/>
        </p:nvSpPr>
        <p:spPr>
          <a:xfrm>
            <a:off x="6217920" y="3246120"/>
            <a:ext cx="5303520" cy="1234440"/>
          </a:xfrm>
          <a:prstGeom prst="roundRect">
            <a:avLst>
              <a:gd name="adj" fmla="val 4444"/>
            </a:avLst>
          </a:prstGeom>
          <a:solidFill>
            <a:srgbClr val="17304F"/>
          </a:solidFill>
          <a:ln w="12700">
            <a:solidFill>
              <a:srgbClr val="E0574E"/>
            </a:solidFill>
            <a:prstDash val="solid"/>
          </a:ln>
        </p:spPr>
      </p:sp>
      <p:sp>
        <p:nvSpPr>
          <p:cNvPr id="14" name="Text 12"/>
          <p:cNvSpPr txBox="1"/>
          <p:nvPr/>
        </p:nvSpPr>
        <p:spPr>
          <a:xfrm>
            <a:off x="6492240" y="3410712"/>
            <a:ext cx="475488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Gestion des secrets</a:t>
            </a:r>
            <a:endParaRPr lang="en-US" sz="1600" dirty="0"/>
          </a:p>
        </p:txBody>
      </p:sp>
      <p:sp>
        <p:nvSpPr>
          <p:cNvPr id="15" name="Text 13"/>
          <p:cNvSpPr txBox="1"/>
          <p:nvPr/>
        </p:nvSpPr>
        <p:spPr>
          <a:xfrm>
            <a:off x="6492240" y="3794760"/>
            <a:ext cx="4754880" cy="5943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SOPS/Vault : aucun secret en clair dans le dépôt</a:t>
            </a:r>
            <a:endParaRPr lang="en-US" sz="1300" dirty="0"/>
          </a:p>
        </p:txBody>
      </p:sp>
      <p:sp>
        <p:nvSpPr>
          <p:cNvPr id="16" name="Text 14"/>
          <p:cNvSpPr txBox="1"/>
          <p:nvPr/>
        </p:nvSpPr>
        <p:spPr>
          <a:xfrm>
            <a:off x="548640" y="4846320"/>
            <a:ext cx="11094415" cy="457200"/>
          </a:xfrm>
          <a:prstGeom prst="rect">
            <a:avLst/>
          </a:prstGeom>
          <a:noFill/>
          <a:ln/>
        </p:spPr>
        <p:txBody>
          <a:bodyPr wrap="square" lIns="0" tIns="0" rIns="0" bIns="0" rtlCol="0" anchor="ctr"/>
          <a:lstStyle/>
          <a:p>
            <a:pPr indent="0" marL="0">
              <a:buNone/>
            </a:pPr>
            <a:r>
              <a:rPr lang="en-US" sz="1400" i="1" dirty="0">
                <a:solidFill>
                  <a:srgbClr val="2BC39A"/>
                </a:solidFill>
                <a:latin typeface="Calibri" pitchFamily="34" charset="0"/>
                <a:ea typeface="Calibri" pitchFamily="34" charset="-122"/>
                <a:cs typeface="Calibri" pitchFamily="34" charset="-120"/>
              </a:rPr>
              <a:t>Toute action offensive est strictement limitée à notre SI fictif et aux machines autorisées de l'équipe.</a:t>
            </a:r>
            <a:endParaRPr lang="en-US" sz="1400" dirty="0"/>
          </a:p>
        </p:txBody>
      </p:sp>
      <p:sp>
        <p:nvSpPr>
          <p:cNvPr id="17" name="Text 15"/>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63707E"/>
                </a:solidFill>
                <a:latin typeface="Calibri" pitchFamily="34" charset="0"/>
                <a:ea typeface="Calibri" pitchFamily="34" charset="-122"/>
                <a:cs typeface="Calibri" pitchFamily="34" charset="-120"/>
              </a:rPr>
              <a:t>11</a:t>
            </a:r>
            <a:endParaRPr lang="en-US" sz="1000" dirty="0"/>
          </a:p>
        </p:txBody>
      </p:sp>
      <p:sp>
        <p:nvSpPr>
          <p:cNvPr id="18" name="Text 16"/>
          <p:cNvSpPr txBox="1"/>
          <p:nvPr/>
        </p:nvSpPr>
        <p:spPr>
          <a:xfrm>
            <a:off x="548640" y="6400800"/>
            <a:ext cx="4572000" cy="274320"/>
          </a:xfrm>
          <a:prstGeom prst="rect">
            <a:avLst/>
          </a:prstGeom>
          <a:noFill/>
          <a:ln/>
        </p:spPr>
        <p:txBody>
          <a:bodyPr wrap="square" lIns="0" tIns="0" rIns="0" bIns="0" rtlCol="0" anchor="ctr"/>
          <a:lstStyle/>
          <a:p>
            <a:pPr indent="0" marL="0">
              <a:buNone/>
            </a:pPr>
            <a:r>
              <a:rPr lang="en-US" sz="900" dirty="0">
                <a:solidFill>
                  <a:srgbClr val="63707E"/>
                </a:solidFill>
                <a:latin typeface="Calibri" pitchFamily="34" charset="0"/>
                <a:ea typeface="Calibri" pitchFamily="34" charset="-122"/>
                <a:cs typeface="Calibri" pitchFamily="34" charset="-120"/>
              </a:rPr>
              <a:t>Project Resilience-Alpha</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E0574E"/>
                </a:solidFill>
                <a:latin typeface="Calibri" pitchFamily="34" charset="0"/>
                <a:ea typeface="Calibri" pitchFamily="34" charset="-122"/>
                <a:cs typeface="Calibri" pitchFamily="34" charset="-120"/>
              </a:rPr>
              <a:t>4 · DÉMONSTRATION</a:t>
            </a:r>
            <a:endParaRPr lang="en-US" sz="1200" dirty="0"/>
          </a:p>
        </p:txBody>
      </p:sp>
      <p:sp>
        <p:nvSpPr>
          <p:cNvPr id="3" name="Text 1"/>
          <p:cNvSpPr txBox="1"/>
          <p:nvPr/>
        </p:nvSpPr>
        <p:spPr>
          <a:xfrm>
            <a:off x="548640" y="749808"/>
            <a:ext cx="11094415" cy="822960"/>
          </a:xfrm>
          <a:prstGeom prst="rect">
            <a:avLst/>
          </a:prstGeom>
          <a:noFill/>
          <a:ln/>
        </p:spPr>
        <p:txBody>
          <a:bodyPr wrap="square" lIns="0" tIns="0" rIns="0" bIns="0" rtlCol="0" anchor="ctr"/>
          <a:lstStyle/>
          <a:p>
            <a:pPr indent="0" marL="0">
              <a:buNone/>
            </a:pPr>
            <a:r>
              <a:rPr lang="en-US" sz="3200" b="1" dirty="0">
                <a:solidFill>
                  <a:srgbClr val="1B2733"/>
                </a:solidFill>
                <a:latin typeface="Calibri" pitchFamily="34" charset="0"/>
                <a:ea typeface="Calibri" pitchFamily="34" charset="-122"/>
                <a:cs typeface="Calibri" pitchFamily="34" charset="-120"/>
              </a:rPr>
              <a:t>Deux scénarios d'attaque de laboratoire</a:t>
            </a:r>
            <a:endParaRPr lang="en-US" sz="3200" dirty="0"/>
          </a:p>
        </p:txBody>
      </p:sp>
      <p:sp>
        <p:nvSpPr>
          <p:cNvPr id="4" name="Shape 2"/>
          <p:cNvSpPr/>
          <p:nvPr/>
        </p:nvSpPr>
        <p:spPr>
          <a:xfrm>
            <a:off x="548640" y="1828800"/>
            <a:ext cx="5303520" cy="4023360"/>
          </a:xfrm>
          <a:prstGeom prst="roundRect">
            <a:avLst>
              <a:gd name="adj" fmla="val 1818"/>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5" name="Shape 3"/>
          <p:cNvSpPr/>
          <p:nvPr/>
        </p:nvSpPr>
        <p:spPr>
          <a:xfrm>
            <a:off x="868680" y="2148840"/>
            <a:ext cx="685800" cy="685800"/>
          </a:xfrm>
          <a:prstGeom prst="ellipse">
            <a:avLst/>
          </a:prstGeom>
          <a:solidFill>
            <a:srgbClr val="E0574E"/>
          </a:solidFill>
          <a:ln/>
        </p:spPr>
      </p:sp>
      <p:sp>
        <p:nvSpPr>
          <p:cNvPr id="6" name="Text 4"/>
          <p:cNvSpPr txBox="1"/>
          <p:nvPr/>
        </p:nvSpPr>
        <p:spPr>
          <a:xfrm>
            <a:off x="868680" y="2130552"/>
            <a:ext cx="685800" cy="6858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7" name="Text 5"/>
          <p:cNvSpPr txBox="1"/>
          <p:nvPr/>
        </p:nvSpPr>
        <p:spPr>
          <a:xfrm>
            <a:off x="1737360" y="2194560"/>
            <a:ext cx="3931920" cy="640080"/>
          </a:xfrm>
          <a:prstGeom prst="rect">
            <a:avLst/>
          </a:prstGeom>
          <a:noFill/>
          <a:ln/>
        </p:spPr>
        <p:txBody>
          <a:bodyPr wrap="square" lIns="0" tIns="0" rIns="0" bIns="0" rtlCol="0" anchor="ctr"/>
          <a:lstStyle/>
          <a:p>
            <a:pPr indent="0" marL="0">
              <a:buNone/>
            </a:pPr>
            <a:r>
              <a:rPr lang="en-US" sz="1800" b="1" dirty="0">
                <a:solidFill>
                  <a:srgbClr val="1B2733"/>
                </a:solidFill>
                <a:latin typeface="Calibri" pitchFamily="34" charset="0"/>
                <a:ea typeface="Calibri" pitchFamily="34" charset="-122"/>
                <a:cs typeface="Calibri" pitchFamily="34" charset="-120"/>
              </a:rPr>
              <a:t>Déni de service volumétrique</a:t>
            </a:r>
            <a:endParaRPr lang="en-US" sz="1800" dirty="0"/>
          </a:p>
        </p:txBody>
      </p:sp>
      <p:sp>
        <p:nvSpPr>
          <p:cNvPr id="8" name="Text 6"/>
          <p:cNvSpPr txBox="1"/>
          <p:nvPr/>
        </p:nvSpPr>
        <p:spPr>
          <a:xfrm>
            <a:off x="868680" y="3200400"/>
            <a:ext cx="4663440" cy="1188720"/>
          </a:xfrm>
          <a:prstGeom prst="rect">
            <a:avLst/>
          </a:prstGeom>
          <a:noFill/>
          <a:ln/>
        </p:spPr>
        <p:txBody>
          <a:bodyPr wrap="square" lIns="0" tIns="0" rIns="0" bIns="0" rtlCol="0" anchor="ctr"/>
          <a:lstStyle/>
          <a:p>
            <a:pPr indent="0" marL="0">
              <a:buNone/>
            </a:pPr>
            <a:r>
              <a:rPr lang="en-US" sz="1450" dirty="0">
                <a:solidFill>
                  <a:srgbClr val="63707E"/>
                </a:solidFill>
                <a:latin typeface="Calibri" pitchFamily="34" charset="0"/>
                <a:ea typeface="Calibri" pitchFamily="34" charset="-122"/>
                <a:cs typeface="Calibri" pitchFamily="34" charset="-120"/>
              </a:rPr>
              <a:t>Rafale de requêtes via le WAF. Objectif : montrer la défense périmétrique qui absorbe le flood.</a:t>
            </a:r>
            <a:endParaRPr lang="en-US" sz="1450" dirty="0"/>
          </a:p>
        </p:txBody>
      </p:sp>
      <p:sp>
        <p:nvSpPr>
          <p:cNvPr id="9" name="Shape 7"/>
          <p:cNvSpPr/>
          <p:nvPr/>
        </p:nvSpPr>
        <p:spPr>
          <a:xfrm>
            <a:off x="868680" y="4754880"/>
            <a:ext cx="4663440" cy="777240"/>
          </a:xfrm>
          <a:prstGeom prst="roundRect">
            <a:avLst>
              <a:gd name="adj" fmla="val 5882"/>
            </a:avLst>
          </a:prstGeom>
          <a:solidFill>
            <a:srgbClr val="FBE9E7"/>
          </a:solidFill>
          <a:ln/>
        </p:spPr>
      </p:sp>
      <p:sp>
        <p:nvSpPr>
          <p:cNvPr id="10" name="Text 8"/>
          <p:cNvSpPr txBox="1"/>
          <p:nvPr/>
        </p:nvSpPr>
        <p:spPr>
          <a:xfrm>
            <a:off x="1051560" y="4892040"/>
            <a:ext cx="4297680" cy="502920"/>
          </a:xfrm>
          <a:prstGeom prst="rect">
            <a:avLst/>
          </a:prstGeom>
          <a:noFill/>
          <a:ln/>
        </p:spPr>
        <p:txBody>
          <a:bodyPr wrap="square" lIns="0" tIns="0" rIns="0" bIns="0" rtlCol="0" anchor="ctr"/>
          <a:lstStyle/>
          <a:p>
            <a:pPr indent="0" marL="0">
              <a:buNone/>
            </a:pPr>
            <a:r>
              <a:rPr lang="en-US" sz="1400" b="1" dirty="0">
                <a:solidFill>
                  <a:srgbClr val="E0574E"/>
                </a:solidFill>
                <a:latin typeface="Calibri" pitchFamily="34" charset="0"/>
                <a:ea typeface="Calibri" pitchFamily="34" charset="-122"/>
                <a:cs typeface="Calibri" pitchFamily="34" charset="-120"/>
              </a:rPr>
              <a:t>Le WAF limite le débit (429)</a:t>
            </a:r>
            <a:endParaRPr lang="en-US" sz="1400" dirty="0"/>
          </a:p>
        </p:txBody>
      </p:sp>
      <p:sp>
        <p:nvSpPr>
          <p:cNvPr id="11" name="Shape 9"/>
          <p:cNvSpPr/>
          <p:nvPr/>
        </p:nvSpPr>
        <p:spPr>
          <a:xfrm>
            <a:off x="6217920" y="1828800"/>
            <a:ext cx="5303520" cy="4023360"/>
          </a:xfrm>
          <a:prstGeom prst="roundRect">
            <a:avLst>
              <a:gd name="adj" fmla="val 1818"/>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12" name="Shape 10"/>
          <p:cNvSpPr/>
          <p:nvPr/>
        </p:nvSpPr>
        <p:spPr>
          <a:xfrm>
            <a:off x="6537960" y="2148840"/>
            <a:ext cx="685800" cy="685800"/>
          </a:xfrm>
          <a:prstGeom prst="ellipse">
            <a:avLst/>
          </a:prstGeom>
          <a:solidFill>
            <a:srgbClr val="E6A23C"/>
          </a:solidFill>
          <a:ln/>
        </p:spPr>
      </p:sp>
      <p:sp>
        <p:nvSpPr>
          <p:cNvPr id="13" name="Text 11"/>
          <p:cNvSpPr txBox="1"/>
          <p:nvPr/>
        </p:nvSpPr>
        <p:spPr>
          <a:xfrm>
            <a:off x="6537960" y="2130552"/>
            <a:ext cx="685800" cy="6858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4" name="Text 12"/>
          <p:cNvSpPr txBox="1"/>
          <p:nvPr/>
        </p:nvSpPr>
        <p:spPr>
          <a:xfrm>
            <a:off x="7406640" y="2194560"/>
            <a:ext cx="3931920" cy="640080"/>
          </a:xfrm>
          <a:prstGeom prst="rect">
            <a:avLst/>
          </a:prstGeom>
          <a:noFill/>
          <a:ln/>
        </p:spPr>
        <p:txBody>
          <a:bodyPr wrap="square" lIns="0" tIns="0" rIns="0" bIns="0" rtlCol="0" anchor="ctr"/>
          <a:lstStyle/>
          <a:p>
            <a:pPr indent="0" marL="0">
              <a:buNone/>
            </a:pPr>
            <a:r>
              <a:rPr lang="en-US" sz="1800" b="1" dirty="0">
                <a:solidFill>
                  <a:srgbClr val="1B2733"/>
                </a:solidFill>
                <a:latin typeface="Calibri" pitchFamily="34" charset="0"/>
                <a:ea typeface="Calibri" pitchFamily="34" charset="-122"/>
                <a:cs typeface="Calibri" pitchFamily="34" charset="-120"/>
              </a:rPr>
              <a:t>Attaque qui franchit le périmètre</a:t>
            </a:r>
            <a:endParaRPr lang="en-US" sz="1800" dirty="0"/>
          </a:p>
        </p:txBody>
      </p:sp>
      <p:sp>
        <p:nvSpPr>
          <p:cNvPr id="15" name="Text 13"/>
          <p:cNvSpPr txBox="1"/>
          <p:nvPr/>
        </p:nvSpPr>
        <p:spPr>
          <a:xfrm>
            <a:off x="6537960" y="3200400"/>
            <a:ext cx="4663440" cy="1188720"/>
          </a:xfrm>
          <a:prstGeom prst="rect">
            <a:avLst/>
          </a:prstGeom>
          <a:noFill/>
          <a:ln/>
        </p:spPr>
        <p:txBody>
          <a:bodyPr wrap="square" lIns="0" tIns="0" rIns="0" bIns="0" rtlCol="0" anchor="ctr"/>
          <a:lstStyle/>
          <a:p>
            <a:pPr indent="0" marL="0">
              <a:buNone/>
            </a:pPr>
            <a:r>
              <a:rPr lang="en-US" sz="1450" dirty="0">
                <a:solidFill>
                  <a:srgbClr val="63707E"/>
                </a:solidFill>
                <a:latin typeface="Calibri" pitchFamily="34" charset="0"/>
                <a:ea typeface="Calibri" pitchFamily="34" charset="-122"/>
                <a:cs typeface="Calibri" pitchFamily="34" charset="-120"/>
              </a:rPr>
              <a:t>Charge dirigée droit sur l'API. Objectif : déclencher la détection ML et la remédiation autonome.</a:t>
            </a:r>
            <a:endParaRPr lang="en-US" sz="1450" dirty="0"/>
          </a:p>
        </p:txBody>
      </p:sp>
      <p:sp>
        <p:nvSpPr>
          <p:cNvPr id="16" name="Shape 14"/>
          <p:cNvSpPr/>
          <p:nvPr/>
        </p:nvSpPr>
        <p:spPr>
          <a:xfrm>
            <a:off x="6537960" y="4754880"/>
            <a:ext cx="4663440" cy="777240"/>
          </a:xfrm>
          <a:prstGeom prst="roundRect">
            <a:avLst>
              <a:gd name="adj" fmla="val 5882"/>
            </a:avLst>
          </a:prstGeom>
          <a:solidFill>
            <a:srgbClr val="FFF6E6"/>
          </a:solidFill>
          <a:ln/>
        </p:spPr>
      </p:sp>
      <p:sp>
        <p:nvSpPr>
          <p:cNvPr id="17" name="Text 15"/>
          <p:cNvSpPr txBox="1"/>
          <p:nvPr/>
        </p:nvSpPr>
        <p:spPr>
          <a:xfrm>
            <a:off x="6720840" y="4892040"/>
            <a:ext cx="4297680" cy="502920"/>
          </a:xfrm>
          <a:prstGeom prst="rect">
            <a:avLst/>
          </a:prstGeom>
          <a:noFill/>
          <a:ln/>
        </p:spPr>
        <p:txBody>
          <a:bodyPr wrap="square" lIns="0" tIns="0" rIns="0" bIns="0" rtlCol="0" anchor="ctr"/>
          <a:lstStyle/>
          <a:p>
            <a:pPr indent="0" marL="0">
              <a:buNone/>
            </a:pPr>
            <a:r>
              <a:rPr lang="en-US" sz="1400" b="1" dirty="0">
                <a:solidFill>
                  <a:srgbClr val="E6A23C"/>
                </a:solidFill>
                <a:latin typeface="Calibri" pitchFamily="34" charset="0"/>
                <a:ea typeface="Calibri" pitchFamily="34" charset="-122"/>
                <a:cs typeface="Calibri" pitchFamily="34" charset="-120"/>
              </a:rPr>
              <a:t>Anomalie détectée → reprise auto</a:t>
            </a:r>
            <a:endParaRPr lang="en-US" sz="1400" dirty="0"/>
          </a:p>
        </p:txBody>
      </p:sp>
      <p:sp>
        <p:nvSpPr>
          <p:cNvPr id="18" name="Text 16"/>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63707E"/>
                </a:solidFill>
                <a:latin typeface="Calibri" pitchFamily="34" charset="0"/>
                <a:ea typeface="Calibri" pitchFamily="34" charset="-122"/>
                <a:cs typeface="Calibri" pitchFamily="34" charset="-120"/>
              </a:rPr>
              <a:t>12</a:t>
            </a:r>
            <a:endParaRPr lang="en-US" sz="1000" dirty="0"/>
          </a:p>
        </p:txBody>
      </p:sp>
      <p:sp>
        <p:nvSpPr>
          <p:cNvPr id="19" name="Text 17"/>
          <p:cNvSpPr txBox="1"/>
          <p:nvPr/>
        </p:nvSpPr>
        <p:spPr>
          <a:xfrm>
            <a:off x="548640" y="6400800"/>
            <a:ext cx="4572000" cy="274320"/>
          </a:xfrm>
          <a:prstGeom prst="rect">
            <a:avLst/>
          </a:prstGeom>
          <a:noFill/>
          <a:ln/>
        </p:spPr>
        <p:txBody>
          <a:bodyPr wrap="square" lIns="0" tIns="0" rIns="0" bIns="0" rtlCol="0" anchor="ctr"/>
          <a:lstStyle/>
          <a:p>
            <a:pPr indent="0" marL="0">
              <a:buNone/>
            </a:pPr>
            <a:r>
              <a:rPr lang="en-US" sz="900" dirty="0">
                <a:solidFill>
                  <a:srgbClr val="63707E"/>
                </a:solidFill>
                <a:latin typeface="Calibri" pitchFamily="34" charset="0"/>
                <a:ea typeface="Calibri" pitchFamily="34" charset="-122"/>
                <a:cs typeface="Calibri" pitchFamily="34" charset="-120"/>
              </a:rPr>
              <a:t>Project Resilience-Alpha</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2BC39A"/>
                </a:solidFill>
                <a:latin typeface="Calibri" pitchFamily="34" charset="0"/>
                <a:ea typeface="Calibri" pitchFamily="34" charset="-122"/>
                <a:cs typeface="Calibri" pitchFamily="34" charset="-120"/>
              </a:rPr>
              <a:t>5 · RÉSULTATS MESURÉS</a:t>
            </a:r>
            <a:endParaRPr lang="en-US" sz="1200" dirty="0"/>
          </a:p>
        </p:txBody>
      </p:sp>
      <p:sp>
        <p:nvSpPr>
          <p:cNvPr id="3" name="Text 1"/>
          <p:cNvSpPr txBox="1"/>
          <p:nvPr/>
        </p:nvSpPr>
        <p:spPr>
          <a:xfrm>
            <a:off x="548640" y="749808"/>
            <a:ext cx="11094415" cy="822960"/>
          </a:xfrm>
          <a:prstGeom prst="rect">
            <a:avLst/>
          </a:prstGeom>
          <a:noFill/>
          <a:ln/>
        </p:spPr>
        <p:txBody>
          <a:bodyPr wrap="square" lIns="0" tIns="0" rIns="0" bIns="0" rtlCol="0" anchor="ctr"/>
          <a:lstStyle/>
          <a:p>
            <a:pPr indent="0" marL="0">
              <a:buNone/>
            </a:pPr>
            <a:r>
              <a:rPr lang="en-US" sz="3200" b="1" dirty="0">
                <a:solidFill>
                  <a:srgbClr val="1B2733"/>
                </a:solidFill>
                <a:latin typeface="Calibri" pitchFamily="34" charset="0"/>
                <a:ea typeface="Calibri" pitchFamily="34" charset="-122"/>
                <a:cs typeface="Calibri" pitchFamily="34" charset="-120"/>
              </a:rPr>
              <a:t>Ce que la démonstration prouve</a:t>
            </a:r>
            <a:endParaRPr lang="en-US" sz="3200" dirty="0"/>
          </a:p>
        </p:txBody>
      </p:sp>
      <p:sp>
        <p:nvSpPr>
          <p:cNvPr id="4" name="Text 2"/>
          <p:cNvSpPr txBox="1"/>
          <p:nvPr/>
        </p:nvSpPr>
        <p:spPr>
          <a:xfrm>
            <a:off x="548640" y="1737360"/>
            <a:ext cx="5486400" cy="365760"/>
          </a:xfrm>
          <a:prstGeom prst="rect">
            <a:avLst/>
          </a:prstGeom>
          <a:noFill/>
          <a:ln/>
        </p:spPr>
        <p:txBody>
          <a:bodyPr wrap="square" lIns="0" tIns="0" rIns="0" bIns="0"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Scénario A — attaque via le WAF (30 s)</a:t>
            </a:r>
            <a:endParaRPr lang="en-US" sz="1500" dirty="0"/>
          </a:p>
        </p:txBody>
      </p:sp>
      <p:graphicFrame>
        <p:nvGraphicFramePr>
          <p:cNvPr id="5" name="Chart 0" descr=""/>
          <p:cNvGraphicFramePr/>
          <p:nvPr/>
        </p:nvGraphicFramePr>
        <p:xfrm>
          <a:off x="548640" y="2194560"/>
          <a:ext cx="4846320" cy="34747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1965960" y="3246120"/>
            <a:ext cx="2011680" cy="731520"/>
          </a:xfrm>
          <a:prstGeom prst="rect">
            <a:avLst/>
          </a:prstGeom>
          <a:noFill/>
          <a:ln/>
        </p:spPr>
        <p:txBody>
          <a:bodyPr wrap="square" lIns="0" tIns="0" rIns="0" bIns="0" rtlCol="0" anchor="ctr"/>
          <a:lstStyle/>
          <a:p>
            <a:pPr algn="ctr" indent="0" marL="0">
              <a:buNone/>
            </a:pPr>
            <a:r>
              <a:rPr lang="en-US" sz="3400" b="1" dirty="0">
                <a:solidFill>
                  <a:srgbClr val="E0574E"/>
                </a:solidFill>
                <a:latin typeface="Calibri" pitchFamily="34" charset="0"/>
                <a:ea typeface="Calibri" pitchFamily="34" charset="-122"/>
                <a:cs typeface="Calibri" pitchFamily="34" charset="-120"/>
              </a:rPr>
              <a:t>97 %</a:t>
            </a:r>
            <a:endParaRPr lang="en-US" sz="3400" dirty="0"/>
          </a:p>
        </p:txBody>
      </p:sp>
      <p:sp>
        <p:nvSpPr>
          <p:cNvPr id="7" name="Text 4"/>
          <p:cNvSpPr txBox="1"/>
          <p:nvPr/>
        </p:nvSpPr>
        <p:spPr>
          <a:xfrm>
            <a:off x="1965960" y="3931920"/>
            <a:ext cx="2011680" cy="274320"/>
          </a:xfrm>
          <a:prstGeom prst="rect">
            <a:avLst/>
          </a:prstGeom>
          <a:noFill/>
          <a:ln/>
        </p:spPr>
        <p:txBody>
          <a:bodyPr wrap="square" lIns="0" tIns="0" rIns="0" bIns="0" rtlCol="0" anchor="ctr"/>
          <a:lstStyle/>
          <a:p>
            <a:pPr algn="ctr" indent="0" marL="0">
              <a:buNone/>
            </a:pPr>
            <a:r>
              <a:rPr lang="en-US" sz="1100" dirty="0">
                <a:solidFill>
                  <a:srgbClr val="63707E"/>
                </a:solidFill>
                <a:latin typeface="Calibri" pitchFamily="34" charset="0"/>
                <a:ea typeface="Calibri" pitchFamily="34" charset="-122"/>
                <a:cs typeface="Calibri" pitchFamily="34" charset="-120"/>
              </a:rPr>
              <a:t>du flood bloqué</a:t>
            </a:r>
            <a:endParaRPr lang="en-US" sz="1100" dirty="0"/>
          </a:p>
        </p:txBody>
      </p:sp>
      <p:sp>
        <p:nvSpPr>
          <p:cNvPr id="8" name="Shape 5"/>
          <p:cNvSpPr/>
          <p:nvPr/>
        </p:nvSpPr>
        <p:spPr>
          <a:xfrm>
            <a:off x="6035040" y="2194560"/>
            <a:ext cx="5608015" cy="1097280"/>
          </a:xfrm>
          <a:prstGeom prst="roundRect">
            <a:avLst>
              <a:gd name="adj" fmla="val 6667"/>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9" name="Text 6"/>
          <p:cNvSpPr txBox="1"/>
          <p:nvPr/>
        </p:nvSpPr>
        <p:spPr>
          <a:xfrm>
            <a:off x="6309360" y="2377440"/>
            <a:ext cx="2011680" cy="731520"/>
          </a:xfrm>
          <a:prstGeom prst="rect">
            <a:avLst/>
          </a:prstGeom>
          <a:noFill/>
          <a:ln/>
        </p:spPr>
        <p:txBody>
          <a:bodyPr wrap="square" lIns="0" tIns="0" rIns="0" bIns="0" rtlCol="0" anchor="ctr"/>
          <a:lstStyle/>
          <a:p>
            <a:pPr indent="0" marL="0">
              <a:buNone/>
            </a:pPr>
            <a:r>
              <a:rPr lang="en-US" sz="3000" b="1" dirty="0">
                <a:solidFill>
                  <a:srgbClr val="2BC39A"/>
                </a:solidFill>
                <a:latin typeface="Calibri" pitchFamily="34" charset="0"/>
                <a:ea typeface="Calibri" pitchFamily="34" charset="-122"/>
                <a:cs typeface="Calibri" pitchFamily="34" charset="-120"/>
              </a:rPr>
              <a:t>&lt; 60 s</a:t>
            </a:r>
            <a:endParaRPr lang="en-US" sz="3000" dirty="0"/>
          </a:p>
        </p:txBody>
      </p:sp>
      <p:sp>
        <p:nvSpPr>
          <p:cNvPr id="10" name="Text 7"/>
          <p:cNvSpPr txBox="1"/>
          <p:nvPr/>
        </p:nvSpPr>
        <p:spPr>
          <a:xfrm>
            <a:off x="8503920" y="2377440"/>
            <a:ext cx="2864815" cy="731520"/>
          </a:xfrm>
          <a:prstGeom prst="rect">
            <a:avLst/>
          </a:prstGeom>
          <a:noFill/>
          <a:ln/>
        </p:spPr>
        <p:txBody>
          <a:bodyPr wrap="square" lIns="0" tIns="0" rIns="0" bIns="0" rtlCol="0" anchor="ctr"/>
          <a:lstStyle/>
          <a:p>
            <a:pPr indent="0" marL="0">
              <a:buNone/>
            </a:pPr>
            <a:r>
              <a:rPr lang="en-US" sz="1350" dirty="0">
                <a:solidFill>
                  <a:srgbClr val="1B2733"/>
                </a:solidFill>
                <a:latin typeface="Calibri" pitchFamily="34" charset="0"/>
                <a:ea typeface="Calibri" pitchFamily="34" charset="-122"/>
                <a:cs typeface="Calibri" pitchFamily="34" charset="-120"/>
              </a:rPr>
              <a:t>RTO : reprise automatique sans intervention humaine</a:t>
            </a:r>
            <a:endParaRPr lang="en-US" sz="1350" dirty="0"/>
          </a:p>
        </p:txBody>
      </p:sp>
      <p:sp>
        <p:nvSpPr>
          <p:cNvPr id="11" name="Shape 8"/>
          <p:cNvSpPr/>
          <p:nvPr/>
        </p:nvSpPr>
        <p:spPr>
          <a:xfrm>
            <a:off x="6035040" y="3429000"/>
            <a:ext cx="5608015" cy="1097280"/>
          </a:xfrm>
          <a:prstGeom prst="roundRect">
            <a:avLst>
              <a:gd name="adj" fmla="val 6667"/>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12" name="Text 9"/>
          <p:cNvSpPr txBox="1"/>
          <p:nvPr/>
        </p:nvSpPr>
        <p:spPr>
          <a:xfrm>
            <a:off x="6309360" y="3611880"/>
            <a:ext cx="2011680" cy="731520"/>
          </a:xfrm>
          <a:prstGeom prst="rect">
            <a:avLst/>
          </a:prstGeom>
          <a:noFill/>
          <a:ln/>
        </p:spPr>
        <p:txBody>
          <a:bodyPr wrap="square" lIns="0" tIns="0" rIns="0" bIns="0" rtlCol="0" anchor="ctr"/>
          <a:lstStyle/>
          <a:p>
            <a:pPr indent="0" marL="0">
              <a:buNone/>
            </a:pPr>
            <a:r>
              <a:rPr lang="en-US" sz="3000" b="1" dirty="0">
                <a:solidFill>
                  <a:srgbClr val="1C9BB0"/>
                </a:solidFill>
                <a:latin typeface="Calibri" pitchFamily="34" charset="0"/>
                <a:ea typeface="Calibri" pitchFamily="34" charset="-122"/>
                <a:cs typeface="Calibri" pitchFamily="34" charset="-120"/>
              </a:rPr>
              <a:t>~ 0</a:t>
            </a:r>
            <a:endParaRPr lang="en-US" sz="3000" dirty="0"/>
          </a:p>
        </p:txBody>
      </p:sp>
      <p:sp>
        <p:nvSpPr>
          <p:cNvPr id="13" name="Text 10"/>
          <p:cNvSpPr txBox="1"/>
          <p:nvPr/>
        </p:nvSpPr>
        <p:spPr>
          <a:xfrm>
            <a:off x="8503920" y="3611880"/>
            <a:ext cx="2864815" cy="731520"/>
          </a:xfrm>
          <a:prstGeom prst="rect">
            <a:avLst/>
          </a:prstGeom>
          <a:noFill/>
          <a:ln/>
        </p:spPr>
        <p:txBody>
          <a:bodyPr wrap="square" lIns="0" tIns="0" rIns="0" bIns="0" rtlCol="0" anchor="ctr"/>
          <a:lstStyle/>
          <a:p>
            <a:pPr indent="0" marL="0">
              <a:buNone/>
            </a:pPr>
            <a:r>
              <a:rPr lang="en-US" sz="1350" dirty="0">
                <a:solidFill>
                  <a:srgbClr val="1B2733"/>
                </a:solidFill>
                <a:latin typeface="Calibri" pitchFamily="34" charset="0"/>
                <a:ea typeface="Calibri" pitchFamily="34" charset="-122"/>
                <a:cs typeface="Calibri" pitchFamily="34" charset="-120"/>
              </a:rPr>
              <a:t>RPO : aucune perte de données (base transactionnelle)</a:t>
            </a:r>
            <a:endParaRPr lang="en-US" sz="1350" dirty="0"/>
          </a:p>
        </p:txBody>
      </p:sp>
      <p:sp>
        <p:nvSpPr>
          <p:cNvPr id="14" name="Shape 11"/>
          <p:cNvSpPr/>
          <p:nvPr/>
        </p:nvSpPr>
        <p:spPr>
          <a:xfrm>
            <a:off x="6035040" y="4663440"/>
            <a:ext cx="5608015" cy="1097280"/>
          </a:xfrm>
          <a:prstGeom prst="roundRect">
            <a:avLst>
              <a:gd name="adj" fmla="val 6667"/>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15" name="Text 12"/>
          <p:cNvSpPr txBox="1"/>
          <p:nvPr/>
        </p:nvSpPr>
        <p:spPr>
          <a:xfrm>
            <a:off x="6309360" y="4846320"/>
            <a:ext cx="2011680" cy="731520"/>
          </a:xfrm>
          <a:prstGeom prst="rect">
            <a:avLst/>
          </a:prstGeom>
          <a:noFill/>
          <a:ln/>
        </p:spPr>
        <p:txBody>
          <a:bodyPr wrap="square" lIns="0" tIns="0" rIns="0" bIns="0" rtlCol="0" anchor="ctr"/>
          <a:lstStyle/>
          <a:p>
            <a:pPr indent="0" marL="0">
              <a:buNone/>
            </a:pPr>
            <a:r>
              <a:rPr lang="en-US" sz="3000" b="1" dirty="0">
                <a:solidFill>
                  <a:srgbClr val="2BC39A"/>
                </a:solidFill>
                <a:latin typeface="Calibri" pitchFamily="34" charset="0"/>
                <a:ea typeface="Calibri" pitchFamily="34" charset="-122"/>
                <a:cs typeface="Calibri" pitchFamily="34" charset="-120"/>
              </a:rPr>
              <a:t>13 / 13</a:t>
            </a:r>
            <a:endParaRPr lang="en-US" sz="3000" dirty="0"/>
          </a:p>
        </p:txBody>
      </p:sp>
      <p:sp>
        <p:nvSpPr>
          <p:cNvPr id="16" name="Text 13"/>
          <p:cNvSpPr txBox="1"/>
          <p:nvPr/>
        </p:nvSpPr>
        <p:spPr>
          <a:xfrm>
            <a:off x="8503920" y="4846320"/>
            <a:ext cx="2864815" cy="731520"/>
          </a:xfrm>
          <a:prstGeom prst="rect">
            <a:avLst/>
          </a:prstGeom>
          <a:noFill/>
          <a:ln/>
        </p:spPr>
        <p:txBody>
          <a:bodyPr wrap="square" lIns="0" tIns="0" rIns="0" bIns="0" rtlCol="0" anchor="ctr"/>
          <a:lstStyle/>
          <a:p>
            <a:pPr indent="0" marL="0">
              <a:buNone/>
            </a:pPr>
            <a:r>
              <a:rPr lang="en-US" sz="1350" dirty="0">
                <a:solidFill>
                  <a:srgbClr val="1B2733"/>
                </a:solidFill>
                <a:latin typeface="Calibri" pitchFamily="34" charset="0"/>
                <a:ea typeface="Calibri" pitchFamily="34" charset="-122"/>
                <a:cs typeface="Calibri" pitchFamily="34" charset="-120"/>
              </a:rPr>
              <a:t>services sains après reprise, transaction fictive re-jouée</a:t>
            </a:r>
            <a:endParaRPr lang="en-US" sz="1350" dirty="0"/>
          </a:p>
        </p:txBody>
      </p:sp>
      <p:sp>
        <p:nvSpPr>
          <p:cNvPr id="17" name="Text 14"/>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63707E"/>
                </a:solidFill>
                <a:latin typeface="Calibri" pitchFamily="34" charset="0"/>
                <a:ea typeface="Calibri" pitchFamily="34" charset="-122"/>
                <a:cs typeface="Calibri" pitchFamily="34" charset="-120"/>
              </a:rPr>
              <a:t>13</a:t>
            </a:r>
            <a:endParaRPr lang="en-US" sz="1000" dirty="0"/>
          </a:p>
        </p:txBody>
      </p:sp>
      <p:sp>
        <p:nvSpPr>
          <p:cNvPr id="18" name="Text 15"/>
          <p:cNvSpPr txBox="1"/>
          <p:nvPr/>
        </p:nvSpPr>
        <p:spPr>
          <a:xfrm>
            <a:off x="548640" y="6400800"/>
            <a:ext cx="4572000" cy="274320"/>
          </a:xfrm>
          <a:prstGeom prst="rect">
            <a:avLst/>
          </a:prstGeom>
          <a:noFill/>
          <a:ln/>
        </p:spPr>
        <p:txBody>
          <a:bodyPr wrap="square" lIns="0" tIns="0" rIns="0" bIns="0" rtlCol="0" anchor="ctr"/>
          <a:lstStyle/>
          <a:p>
            <a:pPr indent="0" marL="0">
              <a:buNone/>
            </a:pPr>
            <a:r>
              <a:rPr lang="en-US" sz="900" dirty="0">
                <a:solidFill>
                  <a:srgbClr val="63707E"/>
                </a:solidFill>
                <a:latin typeface="Calibri" pitchFamily="34" charset="0"/>
                <a:ea typeface="Calibri" pitchFamily="34" charset="-122"/>
                <a:cs typeface="Calibri" pitchFamily="34" charset="-120"/>
              </a:rPr>
              <a:t>Project Resilience-Alpha</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E6A23C"/>
                </a:solidFill>
                <a:latin typeface="Calibri" pitchFamily="34" charset="0"/>
                <a:ea typeface="Calibri" pitchFamily="34" charset="-122"/>
                <a:cs typeface="Calibri" pitchFamily="34" charset="-120"/>
              </a:rPr>
              <a:t>DOMAINE · GOUVERNANCE</a:t>
            </a:r>
            <a:endParaRPr lang="en-US" sz="1200" dirty="0"/>
          </a:p>
        </p:txBody>
      </p:sp>
      <p:sp>
        <p:nvSpPr>
          <p:cNvPr id="3" name="Text 1"/>
          <p:cNvSpPr txBox="1"/>
          <p:nvPr/>
        </p:nvSpPr>
        <p:spPr>
          <a:xfrm>
            <a:off x="548640" y="749808"/>
            <a:ext cx="11094415" cy="822960"/>
          </a:xfrm>
          <a:prstGeom prst="rect">
            <a:avLst/>
          </a:prstGeom>
          <a:noFill/>
          <a:ln/>
        </p:spPr>
        <p:txBody>
          <a:bodyPr wrap="square" lIns="0" tIns="0" rIns="0" bIns="0" rtlCol="0" anchor="ctr"/>
          <a:lstStyle/>
          <a:p>
            <a:pPr indent="0" marL="0">
              <a:buNone/>
            </a:pPr>
            <a:r>
              <a:rPr lang="en-US" sz="3200" b="1" dirty="0">
                <a:solidFill>
                  <a:srgbClr val="1B2733"/>
                </a:solidFill>
                <a:latin typeface="Calibri" pitchFamily="34" charset="0"/>
                <a:ea typeface="Calibri" pitchFamily="34" charset="-122"/>
                <a:cs typeface="Calibri" pitchFamily="34" charset="-120"/>
              </a:rPr>
              <a:t>Justifier les choix : risques &amp; conformité</a:t>
            </a:r>
            <a:endParaRPr lang="en-US" sz="3200" dirty="0"/>
          </a:p>
        </p:txBody>
      </p:sp>
      <p:sp>
        <p:nvSpPr>
          <p:cNvPr id="4" name="Shape 2"/>
          <p:cNvSpPr/>
          <p:nvPr/>
        </p:nvSpPr>
        <p:spPr>
          <a:xfrm>
            <a:off x="548640" y="1920240"/>
            <a:ext cx="3520440" cy="3566160"/>
          </a:xfrm>
          <a:prstGeom prst="roundRect">
            <a:avLst>
              <a:gd name="adj" fmla="val 2078"/>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5" name="Shape 3"/>
          <p:cNvSpPr/>
          <p:nvPr/>
        </p:nvSpPr>
        <p:spPr>
          <a:xfrm>
            <a:off x="822960" y="2286000"/>
            <a:ext cx="502920" cy="82296"/>
          </a:xfrm>
          <a:prstGeom prst="rect">
            <a:avLst/>
          </a:prstGeom>
          <a:solidFill>
            <a:srgbClr val="E6A23C"/>
          </a:solidFill>
          <a:ln/>
        </p:spPr>
      </p:sp>
      <p:sp>
        <p:nvSpPr>
          <p:cNvPr id="6" name="Text 4"/>
          <p:cNvSpPr txBox="1"/>
          <p:nvPr/>
        </p:nvSpPr>
        <p:spPr>
          <a:xfrm>
            <a:off x="822960" y="2423160"/>
            <a:ext cx="2971800" cy="731520"/>
          </a:xfrm>
          <a:prstGeom prst="rect">
            <a:avLst/>
          </a:prstGeom>
          <a:noFill/>
          <a:ln/>
        </p:spPr>
        <p:txBody>
          <a:bodyPr wrap="square" lIns="0" tIns="0" rIns="0" bIns="0" rtlCol="0" anchor="ctr"/>
          <a:lstStyle/>
          <a:p>
            <a:pPr indent="0" marL="0">
              <a:buNone/>
            </a:pPr>
            <a:r>
              <a:rPr lang="en-US" sz="1700" b="1" dirty="0">
                <a:solidFill>
                  <a:srgbClr val="1B2733"/>
                </a:solidFill>
                <a:latin typeface="Calibri" pitchFamily="34" charset="0"/>
                <a:ea typeface="Calibri" pitchFamily="34" charset="-122"/>
                <a:cs typeface="Calibri" pitchFamily="34" charset="-120"/>
              </a:rPr>
              <a:t>EBIOS Risk Manager</a:t>
            </a:r>
            <a:endParaRPr lang="en-US" sz="1700" dirty="0"/>
          </a:p>
        </p:txBody>
      </p:sp>
      <p:sp>
        <p:nvSpPr>
          <p:cNvPr id="7" name="Text 5"/>
          <p:cNvSpPr txBox="1"/>
          <p:nvPr/>
        </p:nvSpPr>
        <p:spPr>
          <a:xfrm>
            <a:off x="822960" y="3200400"/>
            <a:ext cx="2971800" cy="2103120"/>
          </a:xfrm>
          <a:prstGeom prst="rect">
            <a:avLst/>
          </a:prstGeom>
          <a:noFill/>
          <a:ln/>
        </p:spPr>
        <p:txBody>
          <a:bodyPr wrap="square" lIns="0" tIns="0" rIns="0" bIns="0" rtlCol="0" anchor="ctr"/>
          <a:lstStyle/>
          <a:p>
            <a:pPr indent="0" marL="0">
              <a:buNone/>
            </a:pPr>
            <a:r>
              <a:rPr lang="en-US" sz="1300" dirty="0">
                <a:solidFill>
                  <a:srgbClr val="63707E"/>
                </a:solidFill>
                <a:latin typeface="Calibri" pitchFamily="34" charset="0"/>
                <a:ea typeface="Calibri" pitchFamily="34" charset="-122"/>
                <a:cs typeface="Calibri" pitchFamily="34" charset="-120"/>
              </a:rPr>
              <a:t>Analyse structurée : valeurs métier, sources de risque, scénarios (DoS, injection, fuite de secret, abus du moteur), traitement.</a:t>
            </a:r>
            <a:endParaRPr lang="en-US" sz="1300" dirty="0"/>
          </a:p>
        </p:txBody>
      </p:sp>
      <p:sp>
        <p:nvSpPr>
          <p:cNvPr id="8" name="Shape 6"/>
          <p:cNvSpPr/>
          <p:nvPr/>
        </p:nvSpPr>
        <p:spPr>
          <a:xfrm>
            <a:off x="4343400" y="1920240"/>
            <a:ext cx="3520440" cy="3566160"/>
          </a:xfrm>
          <a:prstGeom prst="roundRect">
            <a:avLst>
              <a:gd name="adj" fmla="val 2078"/>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9" name="Shape 7"/>
          <p:cNvSpPr/>
          <p:nvPr/>
        </p:nvSpPr>
        <p:spPr>
          <a:xfrm>
            <a:off x="4617720" y="2286000"/>
            <a:ext cx="502920" cy="82296"/>
          </a:xfrm>
          <a:prstGeom prst="rect">
            <a:avLst/>
          </a:prstGeom>
          <a:solidFill>
            <a:srgbClr val="E6A23C"/>
          </a:solidFill>
          <a:ln/>
        </p:spPr>
      </p:sp>
      <p:sp>
        <p:nvSpPr>
          <p:cNvPr id="10" name="Text 8"/>
          <p:cNvSpPr txBox="1"/>
          <p:nvPr/>
        </p:nvSpPr>
        <p:spPr>
          <a:xfrm>
            <a:off x="4617720" y="2423160"/>
            <a:ext cx="2971800" cy="731520"/>
          </a:xfrm>
          <a:prstGeom prst="rect">
            <a:avLst/>
          </a:prstGeom>
          <a:noFill/>
          <a:ln/>
        </p:spPr>
        <p:txBody>
          <a:bodyPr wrap="square" lIns="0" tIns="0" rIns="0" bIns="0" rtlCol="0" anchor="ctr"/>
          <a:lstStyle/>
          <a:p>
            <a:pPr indent="0" marL="0">
              <a:buNone/>
            </a:pPr>
            <a:r>
              <a:rPr lang="en-US" sz="1700" b="1" dirty="0">
                <a:solidFill>
                  <a:srgbClr val="1B2733"/>
                </a:solidFill>
                <a:latin typeface="Calibri" pitchFamily="34" charset="0"/>
                <a:ea typeface="Calibri" pitchFamily="34" charset="-122"/>
                <a:cs typeface="Calibri" pitchFamily="34" charset="-120"/>
              </a:rPr>
              <a:t>PCA / PRA</a:t>
            </a:r>
            <a:endParaRPr lang="en-US" sz="1700" dirty="0"/>
          </a:p>
        </p:txBody>
      </p:sp>
      <p:sp>
        <p:nvSpPr>
          <p:cNvPr id="11" name="Text 9"/>
          <p:cNvSpPr txBox="1"/>
          <p:nvPr/>
        </p:nvSpPr>
        <p:spPr>
          <a:xfrm>
            <a:off x="4617720" y="3200400"/>
            <a:ext cx="2971800" cy="2103120"/>
          </a:xfrm>
          <a:prstGeom prst="rect">
            <a:avLst/>
          </a:prstGeom>
          <a:noFill/>
          <a:ln/>
        </p:spPr>
        <p:txBody>
          <a:bodyPr wrap="square" lIns="0" tIns="0" rIns="0" bIns="0" rtlCol="0" anchor="ctr"/>
          <a:lstStyle/>
          <a:p>
            <a:pPr indent="0" marL="0">
              <a:buNone/>
            </a:pPr>
            <a:r>
              <a:rPr lang="en-US" sz="1300" dirty="0">
                <a:solidFill>
                  <a:srgbClr val="63707E"/>
                </a:solidFill>
                <a:latin typeface="Calibri" pitchFamily="34" charset="0"/>
                <a:ea typeface="Calibri" pitchFamily="34" charset="-122"/>
                <a:cs typeface="Calibri" pitchFamily="34" charset="-120"/>
              </a:rPr>
              <a:t>Plan adapté à la solution : RTO &lt; 60 s, RPO ~0, scénarios couverts, et distinction disponibilité vs compromission.</a:t>
            </a:r>
            <a:endParaRPr lang="en-US" sz="1300" dirty="0"/>
          </a:p>
        </p:txBody>
      </p:sp>
      <p:sp>
        <p:nvSpPr>
          <p:cNvPr id="12" name="Shape 10"/>
          <p:cNvSpPr/>
          <p:nvPr/>
        </p:nvSpPr>
        <p:spPr>
          <a:xfrm>
            <a:off x="8138160" y="1920240"/>
            <a:ext cx="3520440" cy="3566160"/>
          </a:xfrm>
          <a:prstGeom prst="roundRect">
            <a:avLst>
              <a:gd name="adj" fmla="val 2078"/>
            </a:avLst>
          </a:prstGeom>
          <a:solidFill>
            <a:srgbClr val="EEF3F9"/>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13" name="Shape 11"/>
          <p:cNvSpPr/>
          <p:nvPr/>
        </p:nvSpPr>
        <p:spPr>
          <a:xfrm>
            <a:off x="8412480" y="2286000"/>
            <a:ext cx="502920" cy="82296"/>
          </a:xfrm>
          <a:prstGeom prst="rect">
            <a:avLst/>
          </a:prstGeom>
          <a:solidFill>
            <a:srgbClr val="E6A23C"/>
          </a:solidFill>
          <a:ln/>
        </p:spPr>
      </p:sp>
      <p:sp>
        <p:nvSpPr>
          <p:cNvPr id="14" name="Text 12"/>
          <p:cNvSpPr txBox="1"/>
          <p:nvPr/>
        </p:nvSpPr>
        <p:spPr>
          <a:xfrm>
            <a:off x="8412480" y="2423160"/>
            <a:ext cx="2971800" cy="731520"/>
          </a:xfrm>
          <a:prstGeom prst="rect">
            <a:avLst/>
          </a:prstGeom>
          <a:noFill/>
          <a:ln/>
        </p:spPr>
        <p:txBody>
          <a:bodyPr wrap="square" lIns="0" tIns="0" rIns="0" bIns="0" rtlCol="0" anchor="ctr"/>
          <a:lstStyle/>
          <a:p>
            <a:pPr indent="0" marL="0">
              <a:buNone/>
            </a:pPr>
            <a:r>
              <a:rPr lang="en-US" sz="1700" b="1" dirty="0">
                <a:solidFill>
                  <a:srgbClr val="1B2733"/>
                </a:solidFill>
                <a:latin typeface="Calibri" pitchFamily="34" charset="0"/>
                <a:ea typeface="Calibri" pitchFamily="34" charset="-122"/>
                <a:cs typeface="Calibri" pitchFamily="34" charset="-120"/>
              </a:rPr>
              <a:t>NIS2 / DORA</a:t>
            </a:r>
            <a:endParaRPr lang="en-US" sz="1700" dirty="0"/>
          </a:p>
        </p:txBody>
      </p:sp>
      <p:sp>
        <p:nvSpPr>
          <p:cNvPr id="15" name="Text 13"/>
          <p:cNvSpPr txBox="1"/>
          <p:nvPr/>
        </p:nvSpPr>
        <p:spPr>
          <a:xfrm>
            <a:off x="8412480" y="3200400"/>
            <a:ext cx="2971800" cy="2103120"/>
          </a:xfrm>
          <a:prstGeom prst="rect">
            <a:avLst/>
          </a:prstGeom>
          <a:noFill/>
          <a:ln/>
        </p:spPr>
        <p:txBody>
          <a:bodyPr wrap="square" lIns="0" tIns="0" rIns="0" bIns="0" rtlCol="0" anchor="ctr"/>
          <a:lstStyle/>
          <a:p>
            <a:pPr indent="0" marL="0">
              <a:buNone/>
            </a:pPr>
            <a:r>
              <a:rPr lang="en-US" sz="1300" dirty="0">
                <a:solidFill>
                  <a:srgbClr val="63707E"/>
                </a:solidFill>
                <a:latin typeface="Calibri" pitchFamily="34" charset="0"/>
                <a:ea typeface="Calibri" pitchFamily="34" charset="-122"/>
                <a:cs typeface="Calibri" pitchFamily="34" charset="-120"/>
              </a:rPr>
              <a:t>Ce qu'un prototype de 4 jours démontre (gestion du risque, détection, tests de résilience) vs ce qu'il ne peut qu'esquisser (notification réglementaire).</a:t>
            </a:r>
            <a:endParaRPr lang="en-US" sz="1300" dirty="0"/>
          </a:p>
        </p:txBody>
      </p:sp>
      <p:sp>
        <p:nvSpPr>
          <p:cNvPr id="16" name="Text 14"/>
          <p:cNvSpPr txBox="1"/>
          <p:nvPr/>
        </p:nvSpPr>
        <p:spPr>
          <a:xfrm>
            <a:off x="548640" y="5669280"/>
            <a:ext cx="11094415" cy="365760"/>
          </a:xfrm>
          <a:prstGeom prst="rect">
            <a:avLst/>
          </a:prstGeom>
          <a:noFill/>
          <a:ln/>
        </p:spPr>
        <p:txBody>
          <a:bodyPr wrap="square" lIns="0" tIns="0" rIns="0" bIns="0" rtlCol="0" anchor="ctr"/>
          <a:lstStyle/>
          <a:p>
            <a:pPr indent="0" marL="0">
              <a:buNone/>
            </a:pPr>
            <a:r>
              <a:rPr lang="en-US" sz="1350" i="1" dirty="0">
                <a:solidFill>
                  <a:srgbClr val="1B2733"/>
                </a:solidFill>
                <a:latin typeface="Calibri" pitchFamily="34" charset="0"/>
                <a:ea typeface="Calibri" pitchFamily="34" charset="-122"/>
                <a:cs typeface="Calibri" pitchFamily="34" charset="-120"/>
              </a:rPr>
              <a:t>Démarche de conseil : quels arbitrages, quelles recommandations à une direction, sur quels éléments vérifiables.</a:t>
            </a:r>
            <a:endParaRPr lang="en-US" sz="1350" dirty="0"/>
          </a:p>
        </p:txBody>
      </p:sp>
      <p:sp>
        <p:nvSpPr>
          <p:cNvPr id="17" name="Text 15"/>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63707E"/>
                </a:solidFill>
                <a:latin typeface="Calibri" pitchFamily="34" charset="0"/>
                <a:ea typeface="Calibri" pitchFamily="34" charset="-122"/>
                <a:cs typeface="Calibri" pitchFamily="34" charset="-120"/>
              </a:rPr>
              <a:t>14</a:t>
            </a:r>
            <a:endParaRPr lang="en-US" sz="1000" dirty="0"/>
          </a:p>
        </p:txBody>
      </p:sp>
      <p:sp>
        <p:nvSpPr>
          <p:cNvPr id="18" name="Text 16"/>
          <p:cNvSpPr txBox="1"/>
          <p:nvPr/>
        </p:nvSpPr>
        <p:spPr>
          <a:xfrm>
            <a:off x="548640" y="6400800"/>
            <a:ext cx="4572000" cy="274320"/>
          </a:xfrm>
          <a:prstGeom prst="rect">
            <a:avLst/>
          </a:prstGeom>
          <a:noFill/>
          <a:ln/>
        </p:spPr>
        <p:txBody>
          <a:bodyPr wrap="square" lIns="0" tIns="0" rIns="0" bIns="0" rtlCol="0" anchor="ctr"/>
          <a:lstStyle/>
          <a:p>
            <a:pPr indent="0" marL="0">
              <a:buNone/>
            </a:pPr>
            <a:r>
              <a:rPr lang="en-US" sz="900" dirty="0">
                <a:solidFill>
                  <a:srgbClr val="63707E"/>
                </a:solidFill>
                <a:latin typeface="Calibri" pitchFamily="34" charset="0"/>
                <a:ea typeface="Calibri" pitchFamily="34" charset="-122"/>
                <a:cs typeface="Calibri" pitchFamily="34" charset="-120"/>
              </a:rPr>
              <a:t>Project Resilience-Alpha</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200" b="1" spc="200" kern="0" dirty="0">
                <a:solidFill>
                  <a:srgbClr val="1C9BB0"/>
                </a:solidFill>
                <a:latin typeface="Calibri" pitchFamily="34" charset="0"/>
                <a:ea typeface="Calibri" pitchFamily="34" charset="-122"/>
                <a:cs typeface="Calibri" pitchFamily="34" charset="-120"/>
              </a:rPr>
              <a:t>6 · HONNÊTETÉ D'INGÉNIEUR</a:t>
            </a:r>
            <a:endParaRPr lang="en-US" sz="1200" dirty="0"/>
          </a:p>
        </p:txBody>
      </p:sp>
      <p:sp>
        <p:nvSpPr>
          <p:cNvPr id="3" name="Text 1"/>
          <p:cNvSpPr txBox="1"/>
          <p:nvPr/>
        </p:nvSpPr>
        <p:spPr>
          <a:xfrm>
            <a:off x="548640" y="749808"/>
            <a:ext cx="11094415" cy="822960"/>
          </a:xfrm>
          <a:prstGeom prst="rect">
            <a:avLst/>
          </a:prstGeom>
          <a:noFill/>
          <a:ln/>
        </p:spPr>
        <p:txBody>
          <a:bodyPr wrap="square" lIns="0" tIns="0" rIns="0" bIns="0" rtlCol="0" anchor="ctr"/>
          <a:lstStyle/>
          <a:p>
            <a:pPr indent="0" marL="0">
              <a:buNone/>
            </a:pPr>
            <a:r>
              <a:rPr lang="en-US" sz="3200" b="1" dirty="0">
                <a:solidFill>
                  <a:srgbClr val="1B2733"/>
                </a:solidFill>
                <a:latin typeface="Calibri" pitchFamily="34" charset="0"/>
                <a:ea typeface="Calibri" pitchFamily="34" charset="-122"/>
                <a:cs typeface="Calibri" pitchFamily="34" charset="-120"/>
              </a:rPr>
              <a:t>Limites assumées &amp; arbitrages</a:t>
            </a:r>
            <a:endParaRPr lang="en-US" sz="3200" dirty="0"/>
          </a:p>
        </p:txBody>
      </p:sp>
      <p:sp>
        <p:nvSpPr>
          <p:cNvPr id="4" name="Shape 2"/>
          <p:cNvSpPr/>
          <p:nvPr/>
        </p:nvSpPr>
        <p:spPr>
          <a:xfrm>
            <a:off x="548640" y="1920240"/>
            <a:ext cx="457200" cy="457200"/>
          </a:xfrm>
          <a:prstGeom prst="ellipse">
            <a:avLst/>
          </a:prstGeom>
          <a:solidFill>
            <a:srgbClr val="E6A23C"/>
          </a:solidFill>
          <a:ln/>
        </p:spPr>
      </p:sp>
      <p:sp>
        <p:nvSpPr>
          <p:cNvPr id="5" name="Text 3"/>
          <p:cNvSpPr txBox="1"/>
          <p:nvPr/>
        </p:nvSpPr>
        <p:spPr>
          <a:xfrm>
            <a:off x="548640" y="190195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6" name="Text 4"/>
          <p:cNvSpPr txBox="1"/>
          <p:nvPr/>
        </p:nvSpPr>
        <p:spPr>
          <a:xfrm>
            <a:off x="1234440" y="1874520"/>
            <a:ext cx="5394960" cy="365760"/>
          </a:xfrm>
          <a:prstGeom prst="rect">
            <a:avLst/>
          </a:prstGeom>
          <a:noFill/>
          <a:ln/>
        </p:spPr>
        <p:txBody>
          <a:bodyPr wrap="square" lIns="0" tIns="0" rIns="0" bIns="0" rtlCol="0" anchor="ctr"/>
          <a:lstStyle/>
          <a:p>
            <a:pPr indent="0" marL="0">
              <a:buNone/>
            </a:pPr>
            <a:r>
              <a:rPr lang="en-US" sz="1550" b="1" dirty="0">
                <a:solidFill>
                  <a:srgbClr val="1B2733"/>
                </a:solidFill>
                <a:latin typeface="Calibri" pitchFamily="34" charset="0"/>
                <a:ea typeface="Calibri" pitchFamily="34" charset="-122"/>
                <a:cs typeface="Calibri" pitchFamily="34" charset="-120"/>
              </a:rPr>
              <a:t>Secrets en SOPS, pas Vault dynamique</a:t>
            </a:r>
            <a:endParaRPr lang="en-US" sz="1550" dirty="0"/>
          </a:p>
        </p:txBody>
      </p:sp>
      <p:sp>
        <p:nvSpPr>
          <p:cNvPr id="7" name="Text 5"/>
          <p:cNvSpPr txBox="1"/>
          <p:nvPr/>
        </p:nvSpPr>
        <p:spPr>
          <a:xfrm>
            <a:off x="1234440" y="2221992"/>
            <a:ext cx="5394960" cy="548640"/>
          </a:xfrm>
          <a:prstGeom prst="rect">
            <a:avLst/>
          </a:prstGeom>
          <a:noFill/>
          <a:ln/>
        </p:spPr>
        <p:txBody>
          <a:bodyPr wrap="square" lIns="0" tIns="0" rIns="0" bIns="0" rtlCol="0" anchor="ctr"/>
          <a:lstStyle/>
          <a:p>
            <a:pPr indent="0" marL="0">
              <a:buNone/>
            </a:pPr>
            <a:r>
              <a:rPr lang="en-US" sz="1250" dirty="0">
                <a:solidFill>
                  <a:srgbClr val="63707E"/>
                </a:solidFill>
                <a:latin typeface="Calibri" pitchFamily="34" charset="0"/>
                <a:ea typeface="Calibri" pitchFamily="34" charset="-122"/>
                <a:cs typeface="Calibri" pitchFamily="34" charset="-120"/>
              </a:rPr>
              <a:t>Arbitrage temps/valeur pour 4 jours ; Vault recommandé en production.</a:t>
            </a:r>
            <a:endParaRPr lang="en-US" sz="1250" dirty="0"/>
          </a:p>
        </p:txBody>
      </p:sp>
      <p:sp>
        <p:nvSpPr>
          <p:cNvPr id="8" name="Shape 6"/>
          <p:cNvSpPr/>
          <p:nvPr/>
        </p:nvSpPr>
        <p:spPr>
          <a:xfrm>
            <a:off x="548640" y="2926080"/>
            <a:ext cx="457200" cy="457200"/>
          </a:xfrm>
          <a:prstGeom prst="ellipse">
            <a:avLst/>
          </a:prstGeom>
          <a:solidFill>
            <a:srgbClr val="E6A23C"/>
          </a:solidFill>
          <a:ln/>
        </p:spPr>
      </p:sp>
      <p:sp>
        <p:nvSpPr>
          <p:cNvPr id="9" name="Text 7"/>
          <p:cNvSpPr txBox="1"/>
          <p:nvPr/>
        </p:nvSpPr>
        <p:spPr>
          <a:xfrm>
            <a:off x="548640" y="29077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0" name="Text 8"/>
          <p:cNvSpPr txBox="1"/>
          <p:nvPr/>
        </p:nvSpPr>
        <p:spPr>
          <a:xfrm>
            <a:off x="1234440" y="2880360"/>
            <a:ext cx="5394960" cy="365760"/>
          </a:xfrm>
          <a:prstGeom prst="rect">
            <a:avLst/>
          </a:prstGeom>
          <a:noFill/>
          <a:ln/>
        </p:spPr>
        <p:txBody>
          <a:bodyPr wrap="square" lIns="0" tIns="0" rIns="0" bIns="0" rtlCol="0" anchor="ctr"/>
          <a:lstStyle/>
          <a:p>
            <a:pPr indent="0" marL="0">
              <a:buNone/>
            </a:pPr>
            <a:r>
              <a:rPr lang="en-US" sz="1550" b="1" dirty="0">
                <a:solidFill>
                  <a:srgbClr val="1B2733"/>
                </a:solidFill>
                <a:latin typeface="Calibri" pitchFamily="34" charset="0"/>
                <a:ea typeface="Calibri" pitchFamily="34" charset="-122"/>
                <a:cs typeface="Calibri" pitchFamily="34" charset="-120"/>
              </a:rPr>
              <a:t>Pas de mTLS interne</a:t>
            </a:r>
            <a:endParaRPr lang="en-US" sz="1550" dirty="0"/>
          </a:p>
        </p:txBody>
      </p:sp>
      <p:sp>
        <p:nvSpPr>
          <p:cNvPr id="11" name="Text 9"/>
          <p:cNvSpPr txBox="1"/>
          <p:nvPr/>
        </p:nvSpPr>
        <p:spPr>
          <a:xfrm>
            <a:off x="1234440" y="3227832"/>
            <a:ext cx="5394960" cy="548640"/>
          </a:xfrm>
          <a:prstGeom prst="rect">
            <a:avLst/>
          </a:prstGeom>
          <a:noFill/>
          <a:ln/>
        </p:spPr>
        <p:txBody>
          <a:bodyPr wrap="square" lIns="0" tIns="0" rIns="0" bIns="0" rtlCol="0" anchor="ctr"/>
          <a:lstStyle/>
          <a:p>
            <a:pPr indent="0" marL="0">
              <a:buNone/>
            </a:pPr>
            <a:r>
              <a:rPr lang="en-US" sz="1250" dirty="0">
                <a:solidFill>
                  <a:srgbClr val="63707E"/>
                </a:solidFill>
                <a:latin typeface="Calibri" pitchFamily="34" charset="0"/>
                <a:ea typeface="Calibri" pitchFamily="34" charset="-122"/>
                <a:cs typeface="Calibri" pitchFamily="34" charset="-120"/>
              </a:rPr>
              <a:t>Réseau Docker isolé jugé suffisant dans le périmètre labo.</a:t>
            </a:r>
            <a:endParaRPr lang="en-US" sz="1250" dirty="0"/>
          </a:p>
        </p:txBody>
      </p:sp>
      <p:sp>
        <p:nvSpPr>
          <p:cNvPr id="12" name="Shape 10"/>
          <p:cNvSpPr/>
          <p:nvPr/>
        </p:nvSpPr>
        <p:spPr>
          <a:xfrm>
            <a:off x="548640" y="3931920"/>
            <a:ext cx="457200" cy="457200"/>
          </a:xfrm>
          <a:prstGeom prst="ellipse">
            <a:avLst/>
          </a:prstGeom>
          <a:solidFill>
            <a:srgbClr val="E6A23C"/>
          </a:solidFill>
          <a:ln/>
        </p:spPr>
      </p:sp>
      <p:sp>
        <p:nvSpPr>
          <p:cNvPr id="13" name="Text 11"/>
          <p:cNvSpPr txBox="1"/>
          <p:nvPr/>
        </p:nvSpPr>
        <p:spPr>
          <a:xfrm>
            <a:off x="548640" y="391363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4" name="Text 12"/>
          <p:cNvSpPr txBox="1"/>
          <p:nvPr/>
        </p:nvSpPr>
        <p:spPr>
          <a:xfrm>
            <a:off x="1234440" y="3886200"/>
            <a:ext cx="5394960" cy="365760"/>
          </a:xfrm>
          <a:prstGeom prst="rect">
            <a:avLst/>
          </a:prstGeom>
          <a:noFill/>
          <a:ln/>
        </p:spPr>
        <p:txBody>
          <a:bodyPr wrap="square" lIns="0" tIns="0" rIns="0" bIns="0" rtlCol="0" anchor="ctr"/>
          <a:lstStyle/>
          <a:p>
            <a:pPr indent="0" marL="0">
              <a:buNone/>
            </a:pPr>
            <a:r>
              <a:rPr lang="en-US" sz="1550" b="1" dirty="0">
                <a:solidFill>
                  <a:srgbClr val="1B2733"/>
                </a:solidFill>
                <a:latin typeface="Calibri" pitchFamily="34" charset="0"/>
                <a:ea typeface="Calibri" pitchFamily="34" charset="-122"/>
                <a:cs typeface="Calibri" pitchFamily="34" charset="-120"/>
              </a:rPr>
              <a:t>PC Hôte unique</a:t>
            </a:r>
            <a:endParaRPr lang="en-US" sz="1550" dirty="0"/>
          </a:p>
        </p:txBody>
      </p:sp>
      <p:sp>
        <p:nvSpPr>
          <p:cNvPr id="15" name="Text 13"/>
          <p:cNvSpPr txBox="1"/>
          <p:nvPr/>
        </p:nvSpPr>
        <p:spPr>
          <a:xfrm>
            <a:off x="1234440" y="4233672"/>
            <a:ext cx="5394960" cy="548640"/>
          </a:xfrm>
          <a:prstGeom prst="rect">
            <a:avLst/>
          </a:prstGeom>
          <a:noFill/>
          <a:ln/>
        </p:spPr>
        <p:txBody>
          <a:bodyPr wrap="square" lIns="0" tIns="0" rIns="0" bIns="0" rtlCol="0" anchor="ctr"/>
          <a:lstStyle/>
          <a:p>
            <a:pPr indent="0" marL="0">
              <a:buNone/>
            </a:pPr>
            <a:r>
              <a:rPr lang="en-US" sz="1250" dirty="0">
                <a:solidFill>
                  <a:srgbClr val="63707E"/>
                </a:solidFill>
                <a:latin typeface="Calibri" pitchFamily="34" charset="0"/>
                <a:ea typeface="Calibri" pitchFamily="34" charset="-122"/>
                <a:cs typeface="Calibri" pitchFamily="34" charset="-120"/>
              </a:rPr>
              <a:t>Pas de redondance matérielle ; dépendance assumée.</a:t>
            </a:r>
            <a:endParaRPr lang="en-US" sz="1250" dirty="0"/>
          </a:p>
        </p:txBody>
      </p:sp>
      <p:sp>
        <p:nvSpPr>
          <p:cNvPr id="16" name="Shape 14"/>
          <p:cNvSpPr/>
          <p:nvPr/>
        </p:nvSpPr>
        <p:spPr>
          <a:xfrm>
            <a:off x="548640" y="4937760"/>
            <a:ext cx="457200" cy="457200"/>
          </a:xfrm>
          <a:prstGeom prst="ellipse">
            <a:avLst/>
          </a:prstGeom>
          <a:solidFill>
            <a:srgbClr val="E6A23C"/>
          </a:solidFill>
          <a:ln/>
        </p:spPr>
      </p:sp>
      <p:sp>
        <p:nvSpPr>
          <p:cNvPr id="17" name="Text 15"/>
          <p:cNvSpPr txBox="1"/>
          <p:nvPr/>
        </p:nvSpPr>
        <p:spPr>
          <a:xfrm>
            <a:off x="548640" y="491947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txBox="1"/>
          <p:nvPr/>
        </p:nvSpPr>
        <p:spPr>
          <a:xfrm>
            <a:off x="1234440" y="4892040"/>
            <a:ext cx="5394960" cy="365760"/>
          </a:xfrm>
          <a:prstGeom prst="rect">
            <a:avLst/>
          </a:prstGeom>
          <a:noFill/>
          <a:ln/>
        </p:spPr>
        <p:txBody>
          <a:bodyPr wrap="square" lIns="0" tIns="0" rIns="0" bIns="0" rtlCol="0" anchor="ctr"/>
          <a:lstStyle/>
          <a:p>
            <a:pPr indent="0" marL="0">
              <a:buNone/>
            </a:pPr>
            <a:r>
              <a:rPr lang="en-US" sz="1550" b="1" dirty="0">
                <a:solidFill>
                  <a:srgbClr val="1B2733"/>
                </a:solidFill>
                <a:latin typeface="Calibri" pitchFamily="34" charset="0"/>
                <a:ea typeface="Calibri" pitchFamily="34" charset="-122"/>
                <a:cs typeface="Calibri" pitchFamily="34" charset="-120"/>
              </a:rPr>
              <a:t>Modèle entraîné sur observations constituées</a:t>
            </a:r>
            <a:endParaRPr lang="en-US" sz="1550" dirty="0"/>
          </a:p>
        </p:txBody>
      </p:sp>
      <p:sp>
        <p:nvSpPr>
          <p:cNvPr id="19" name="Text 17"/>
          <p:cNvSpPr txBox="1"/>
          <p:nvPr/>
        </p:nvSpPr>
        <p:spPr>
          <a:xfrm>
            <a:off x="1234440" y="5239512"/>
            <a:ext cx="5394960" cy="548640"/>
          </a:xfrm>
          <a:prstGeom prst="rect">
            <a:avLst/>
          </a:prstGeom>
          <a:noFill/>
          <a:ln/>
        </p:spPr>
        <p:txBody>
          <a:bodyPr wrap="square" lIns="0" tIns="0" rIns="0" bIns="0" rtlCol="0" anchor="ctr"/>
          <a:lstStyle/>
          <a:p>
            <a:pPr indent="0" marL="0">
              <a:buNone/>
            </a:pPr>
            <a:r>
              <a:rPr lang="en-US" sz="1250" dirty="0">
                <a:solidFill>
                  <a:srgbClr val="63707E"/>
                </a:solidFill>
                <a:latin typeface="Calibri" pitchFamily="34" charset="0"/>
                <a:ea typeface="Calibri" pitchFamily="34" charset="-122"/>
                <a:cs typeface="Calibri" pitchFamily="34" charset="-120"/>
              </a:rPr>
              <a:t>Faute d'historique de production ; remplaçable par un export Prometheus réel.</a:t>
            </a:r>
            <a:endParaRPr lang="en-US" sz="1250" dirty="0"/>
          </a:p>
        </p:txBody>
      </p:sp>
      <p:sp>
        <p:nvSpPr>
          <p:cNvPr id="20" name="Shape 18"/>
          <p:cNvSpPr/>
          <p:nvPr/>
        </p:nvSpPr>
        <p:spPr>
          <a:xfrm>
            <a:off x="6858000" y="1920240"/>
            <a:ext cx="4785055" cy="3931920"/>
          </a:xfrm>
          <a:prstGeom prst="roundRect">
            <a:avLst>
              <a:gd name="adj" fmla="val 1860"/>
            </a:avLst>
          </a:prstGeom>
          <a:solidFill>
            <a:srgbClr val="0E1F38"/>
          </a:solidFill>
          <a:ln w="12700">
            <a:solidFill>
              <a:srgbClr val="D4DEEA"/>
            </a:solidFill>
            <a:prstDash val="solid"/>
          </a:ln>
          <a:effectLst>
            <a:outerShdw sx="100000" sy="100000" kx="0" ky="0" algn="bl" rotWithShape="0" blurRad="101600" dist="38100" dir="5400000">
              <a:srgbClr val="0A1626">
                <a:alpha val="25000"/>
              </a:srgbClr>
            </a:outerShdw>
          </a:effectLst>
        </p:spPr>
      </p:sp>
      <p:sp>
        <p:nvSpPr>
          <p:cNvPr id="21" name="Text 19"/>
          <p:cNvSpPr txBox="1"/>
          <p:nvPr/>
        </p:nvSpPr>
        <p:spPr>
          <a:xfrm>
            <a:off x="7223760" y="2286000"/>
            <a:ext cx="4206240" cy="365760"/>
          </a:xfrm>
          <a:prstGeom prst="rect">
            <a:avLst/>
          </a:prstGeom>
          <a:noFill/>
          <a:ln/>
        </p:spPr>
        <p:txBody>
          <a:bodyPr wrap="square" lIns="0" tIns="0" rIns="0" bIns="0" rtlCol="0" anchor="ctr"/>
          <a:lstStyle/>
          <a:p>
            <a:pPr indent="0" marL="0">
              <a:buNone/>
            </a:pPr>
            <a:r>
              <a:rPr lang="en-US" sz="1500" b="1" dirty="0">
                <a:solidFill>
                  <a:srgbClr val="1C9BB0"/>
                </a:solidFill>
                <a:latin typeface="Calibri" pitchFamily="34" charset="0"/>
                <a:ea typeface="Calibri" pitchFamily="34" charset="-122"/>
                <a:cs typeface="Calibri" pitchFamily="34" charset="-120"/>
              </a:rPr>
              <a:t>Ce que nous revendiquons</a:t>
            </a:r>
            <a:endParaRPr lang="en-US" sz="1500" dirty="0"/>
          </a:p>
        </p:txBody>
      </p:sp>
      <p:sp>
        <p:nvSpPr>
          <p:cNvPr id="22" name="Text 20"/>
          <p:cNvSpPr txBox="1"/>
          <p:nvPr/>
        </p:nvSpPr>
        <p:spPr>
          <a:xfrm>
            <a:off x="7223760" y="2788920"/>
            <a:ext cx="4297680" cy="1645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Pas une plateforme industrielle prête à la production, mais une chaîne de cyber-résilience crédible, exécutée, testée et défendable techniquement.</a:t>
            </a:r>
            <a:endParaRPr lang="en-US" sz="1800" dirty="0"/>
          </a:p>
        </p:txBody>
      </p:sp>
      <p:sp>
        <p:nvSpPr>
          <p:cNvPr id="23" name="Text 21"/>
          <p:cNvSpPr txBox="1"/>
          <p:nvPr/>
        </p:nvSpPr>
        <p:spPr>
          <a:xfrm>
            <a:off x="7223760" y="4480560"/>
            <a:ext cx="4297680" cy="1097280"/>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Essais : détection (4 cas), validation des transactions, récupération RAG, garde-fous Red Team — tous au vert.</a:t>
            </a:r>
            <a:endParaRPr lang="en-US" sz="1350" dirty="0"/>
          </a:p>
        </p:txBody>
      </p:sp>
      <p:sp>
        <p:nvSpPr>
          <p:cNvPr id="24" name="Text 22"/>
          <p:cNvSpPr txBox="1"/>
          <p:nvPr/>
        </p:nvSpPr>
        <p:spPr>
          <a:xfrm>
            <a:off x="11277295" y="6400800"/>
            <a:ext cx="457200" cy="274320"/>
          </a:xfrm>
          <a:prstGeom prst="rect">
            <a:avLst/>
          </a:prstGeom>
          <a:noFill/>
          <a:ln/>
        </p:spPr>
        <p:txBody>
          <a:bodyPr wrap="square" lIns="0" tIns="0" rIns="0" bIns="0" rtlCol="0" anchor="ctr"/>
          <a:lstStyle/>
          <a:p>
            <a:pPr algn="r" indent="0" marL="0">
              <a:buNone/>
            </a:pPr>
            <a:r>
              <a:rPr lang="en-US" sz="1000" dirty="0">
                <a:solidFill>
                  <a:srgbClr val="63707E"/>
                </a:solidFill>
                <a:latin typeface="Calibri" pitchFamily="34" charset="0"/>
                <a:ea typeface="Calibri" pitchFamily="34" charset="-122"/>
                <a:cs typeface="Calibri" pitchFamily="34" charset="-120"/>
              </a:rPr>
              <a:t>15</a:t>
            </a:r>
            <a:endParaRPr lang="en-US" sz="1000" dirty="0"/>
          </a:p>
        </p:txBody>
      </p:sp>
      <p:sp>
        <p:nvSpPr>
          <p:cNvPr id="25" name="Text 23"/>
          <p:cNvSpPr txBox="1"/>
          <p:nvPr/>
        </p:nvSpPr>
        <p:spPr>
          <a:xfrm>
            <a:off x="548640" y="6400800"/>
            <a:ext cx="4572000" cy="274320"/>
          </a:xfrm>
          <a:prstGeom prst="rect">
            <a:avLst/>
          </a:prstGeom>
          <a:noFill/>
          <a:ln/>
        </p:spPr>
        <p:txBody>
          <a:bodyPr wrap="square" lIns="0" tIns="0" rIns="0" bIns="0" rtlCol="0" anchor="ctr"/>
          <a:lstStyle/>
          <a:p>
            <a:pPr indent="0" marL="0">
              <a:buNone/>
            </a:pPr>
            <a:r>
              <a:rPr lang="en-US" sz="900" dirty="0">
                <a:solidFill>
                  <a:srgbClr val="63707E"/>
                </a:solidFill>
                <a:latin typeface="Calibri" pitchFamily="34" charset="0"/>
                <a:ea typeface="Calibri" pitchFamily="34" charset="-122"/>
                <a:cs typeface="Calibri" pitchFamily="34" charset="-120"/>
              </a:rPr>
              <a:t>Project Resilience-Alpha</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F38"/>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BC39A"/>
          </a:solidFill>
          <a:ln/>
        </p:spPr>
      </p:sp>
      <p:sp>
        <p:nvSpPr>
          <p:cNvPr id="3" name="Text 1"/>
          <p:cNvSpPr txBox="1"/>
          <p:nvPr/>
        </p:nvSpPr>
        <p:spPr>
          <a:xfrm>
            <a:off x="548640" y="1463040"/>
            <a:ext cx="9144000" cy="365760"/>
          </a:xfrm>
          <a:prstGeom prst="rect">
            <a:avLst/>
          </a:prstGeom>
          <a:noFill/>
          <a:ln/>
        </p:spPr>
        <p:txBody>
          <a:bodyPr wrap="square" lIns="0" tIns="0" rIns="0" bIns="0" rtlCol="0" anchor="ctr"/>
          <a:lstStyle/>
          <a:p>
            <a:pPr indent="0" marL="0">
              <a:buNone/>
            </a:pPr>
            <a:r>
              <a:rPr lang="en-US" sz="1300" b="1" spc="300" kern="0" dirty="0">
                <a:solidFill>
                  <a:srgbClr val="2BC39A"/>
                </a:solidFill>
                <a:latin typeface="Calibri" pitchFamily="34" charset="0"/>
                <a:ea typeface="Calibri" pitchFamily="34" charset="-122"/>
                <a:cs typeface="Calibri" pitchFamily="34" charset="-120"/>
              </a:rPr>
              <a:t>CE QUE LE JURY RETIENDRA</a:t>
            </a:r>
            <a:endParaRPr lang="en-US" sz="1300" dirty="0"/>
          </a:p>
        </p:txBody>
      </p:sp>
      <p:sp>
        <p:nvSpPr>
          <p:cNvPr id="4" name="Text 2"/>
          <p:cNvSpPr txBox="1"/>
          <p:nvPr/>
        </p:nvSpPr>
        <p:spPr>
          <a:xfrm>
            <a:off x="548640" y="1965960"/>
            <a:ext cx="11094415" cy="13716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Un système de paiement critique qui encaisse un incident et se rétablit seul.</a:t>
            </a:r>
            <a:endParaRPr lang="en-US" sz="3400" dirty="0"/>
          </a:p>
        </p:txBody>
      </p:sp>
      <p:sp>
        <p:nvSpPr>
          <p:cNvPr id="5" name="Shape 3"/>
          <p:cNvSpPr/>
          <p:nvPr/>
        </p:nvSpPr>
        <p:spPr>
          <a:xfrm>
            <a:off x="548640" y="3621024"/>
            <a:ext cx="182880" cy="182880"/>
          </a:xfrm>
          <a:prstGeom prst="ellipse">
            <a:avLst/>
          </a:prstGeom>
          <a:solidFill>
            <a:srgbClr val="2BC39A"/>
          </a:solidFill>
          <a:ln/>
        </p:spPr>
      </p:sp>
      <p:sp>
        <p:nvSpPr>
          <p:cNvPr id="6" name="Text 4"/>
          <p:cNvSpPr txBox="1"/>
          <p:nvPr/>
        </p:nvSpPr>
        <p:spPr>
          <a:xfrm>
            <a:off x="914400" y="3566160"/>
            <a:ext cx="10515600" cy="411480"/>
          </a:xfrm>
          <a:prstGeom prst="rect">
            <a:avLst/>
          </a:prstGeom>
          <a:noFill/>
          <a:ln/>
        </p:spPr>
        <p:txBody>
          <a:bodyPr wrap="square" lIns="0" tIns="0" rIns="0" bIns="0" rtlCol="0" anchor="ctr"/>
          <a:lstStyle/>
          <a:p>
            <a:pPr indent="0" marL="0">
              <a:buNone/>
            </a:pPr>
            <a:r>
              <a:rPr lang="en-US" sz="1550" dirty="0">
                <a:solidFill>
                  <a:srgbClr val="CADCFC"/>
                </a:solidFill>
                <a:latin typeface="Calibri" pitchFamily="34" charset="0"/>
                <a:ea typeface="Calibri" pitchFamily="34" charset="-122"/>
                <a:cs typeface="Calibri" pitchFamily="34" charset="-120"/>
              </a:rPr>
              <a:t>Détection par machine learning, pas de règles codées en dur</a:t>
            </a:r>
            <a:endParaRPr lang="en-US" sz="1550" dirty="0"/>
          </a:p>
        </p:txBody>
      </p:sp>
      <p:sp>
        <p:nvSpPr>
          <p:cNvPr id="7" name="Shape 5"/>
          <p:cNvSpPr/>
          <p:nvPr/>
        </p:nvSpPr>
        <p:spPr>
          <a:xfrm>
            <a:off x="548640" y="4187952"/>
            <a:ext cx="182880" cy="182880"/>
          </a:xfrm>
          <a:prstGeom prst="ellipse">
            <a:avLst/>
          </a:prstGeom>
          <a:solidFill>
            <a:srgbClr val="2BC39A"/>
          </a:solidFill>
          <a:ln/>
        </p:spPr>
      </p:sp>
      <p:sp>
        <p:nvSpPr>
          <p:cNvPr id="8" name="Text 6"/>
          <p:cNvSpPr txBox="1"/>
          <p:nvPr/>
        </p:nvSpPr>
        <p:spPr>
          <a:xfrm>
            <a:off x="914400" y="4133088"/>
            <a:ext cx="10515600" cy="411480"/>
          </a:xfrm>
          <a:prstGeom prst="rect">
            <a:avLst/>
          </a:prstGeom>
          <a:noFill/>
          <a:ln/>
        </p:spPr>
        <p:txBody>
          <a:bodyPr wrap="square" lIns="0" tIns="0" rIns="0" bIns="0" rtlCol="0" anchor="ctr"/>
          <a:lstStyle/>
          <a:p>
            <a:pPr indent="0" marL="0">
              <a:buNone/>
            </a:pPr>
            <a:r>
              <a:rPr lang="en-US" sz="1550" dirty="0">
                <a:solidFill>
                  <a:srgbClr val="CADCFC"/>
                </a:solidFill>
                <a:latin typeface="Calibri" pitchFamily="34" charset="0"/>
                <a:ea typeface="Calibri" pitchFamily="34" charset="-122"/>
                <a:cs typeface="Calibri" pitchFamily="34" charset="-120"/>
              </a:rPr>
              <a:t>Remédiation autonome vérifiée par une vraie transaction métier</a:t>
            </a:r>
            <a:endParaRPr lang="en-US" sz="1550" dirty="0"/>
          </a:p>
        </p:txBody>
      </p:sp>
      <p:sp>
        <p:nvSpPr>
          <p:cNvPr id="9" name="Shape 7"/>
          <p:cNvSpPr/>
          <p:nvPr/>
        </p:nvSpPr>
        <p:spPr>
          <a:xfrm>
            <a:off x="548640" y="4754880"/>
            <a:ext cx="182880" cy="182880"/>
          </a:xfrm>
          <a:prstGeom prst="ellipse">
            <a:avLst/>
          </a:prstGeom>
          <a:solidFill>
            <a:srgbClr val="2BC39A"/>
          </a:solidFill>
          <a:ln/>
        </p:spPr>
      </p:sp>
      <p:sp>
        <p:nvSpPr>
          <p:cNvPr id="10" name="Text 8"/>
          <p:cNvSpPr txBox="1"/>
          <p:nvPr/>
        </p:nvSpPr>
        <p:spPr>
          <a:xfrm>
            <a:off x="914400" y="4700016"/>
            <a:ext cx="10515600" cy="411480"/>
          </a:xfrm>
          <a:prstGeom prst="rect">
            <a:avLst/>
          </a:prstGeom>
          <a:noFill/>
          <a:ln/>
        </p:spPr>
        <p:txBody>
          <a:bodyPr wrap="square" lIns="0" tIns="0" rIns="0" bIns="0" rtlCol="0" anchor="ctr"/>
          <a:lstStyle/>
          <a:p>
            <a:pPr indent="0" marL="0">
              <a:buNone/>
            </a:pPr>
            <a:r>
              <a:rPr lang="en-US" sz="1550" dirty="0">
                <a:solidFill>
                  <a:srgbClr val="CADCFC"/>
                </a:solidFill>
                <a:latin typeface="Calibri" pitchFamily="34" charset="0"/>
                <a:ea typeface="Calibri" pitchFamily="34" charset="-122"/>
                <a:cs typeface="Calibri" pitchFamily="34" charset="-120"/>
              </a:rPr>
              <a:t>Défense en profondeur : le WAF a bloqué 97 % du flood</a:t>
            </a:r>
            <a:endParaRPr lang="en-US" sz="1550" dirty="0"/>
          </a:p>
        </p:txBody>
      </p:sp>
      <p:sp>
        <p:nvSpPr>
          <p:cNvPr id="11" name="Shape 9"/>
          <p:cNvSpPr/>
          <p:nvPr/>
        </p:nvSpPr>
        <p:spPr>
          <a:xfrm>
            <a:off x="548640" y="5321808"/>
            <a:ext cx="182880" cy="182880"/>
          </a:xfrm>
          <a:prstGeom prst="ellipse">
            <a:avLst/>
          </a:prstGeom>
          <a:solidFill>
            <a:srgbClr val="2BC39A"/>
          </a:solidFill>
          <a:ln/>
        </p:spPr>
      </p:sp>
      <p:sp>
        <p:nvSpPr>
          <p:cNvPr id="12" name="Text 10"/>
          <p:cNvSpPr txBox="1"/>
          <p:nvPr/>
        </p:nvSpPr>
        <p:spPr>
          <a:xfrm>
            <a:off x="914400" y="5266944"/>
            <a:ext cx="10515600" cy="411480"/>
          </a:xfrm>
          <a:prstGeom prst="rect">
            <a:avLst/>
          </a:prstGeom>
          <a:noFill/>
          <a:ln/>
        </p:spPr>
        <p:txBody>
          <a:bodyPr wrap="square" lIns="0" tIns="0" rIns="0" bIns="0" rtlCol="0" anchor="ctr"/>
          <a:lstStyle/>
          <a:p>
            <a:pPr indent="0" marL="0">
              <a:buNone/>
            </a:pPr>
            <a:r>
              <a:rPr lang="en-US" sz="1550" dirty="0">
                <a:solidFill>
                  <a:srgbClr val="CADCFC"/>
                </a:solidFill>
                <a:latin typeface="Calibri" pitchFamily="34" charset="0"/>
                <a:ea typeface="Calibri" pitchFamily="34" charset="-122"/>
                <a:cs typeface="Calibri" pitchFamily="34" charset="-120"/>
              </a:rPr>
              <a:t>Gouvernance honnête : EBIOS, PCA/PRA, NIS2/DORA et limites assumées</a:t>
            </a:r>
            <a:endParaRPr lang="en-US" sz="1550" dirty="0"/>
          </a:p>
        </p:txBody>
      </p:sp>
      <p:sp>
        <p:nvSpPr>
          <p:cNvPr id="13" name="Text 11"/>
          <p:cNvSpPr txBox="1"/>
          <p:nvPr/>
        </p:nvSpPr>
        <p:spPr>
          <a:xfrm>
            <a:off x="548640" y="6035040"/>
            <a:ext cx="11094415" cy="457200"/>
          </a:xfrm>
          <a:prstGeom prst="rect">
            <a:avLst/>
          </a:prstGeom>
          <a:noFill/>
          <a:ln/>
        </p:spPr>
        <p:txBody>
          <a:bodyPr wrap="square" lIns="0" tIns="0" rIns="0" bIns="0" rtlCol="0" anchor="ctr"/>
          <a:lstStyle/>
          <a:p>
            <a:pPr indent="0" marL="0">
              <a:buNone/>
            </a:pPr>
            <a:r>
              <a:rPr lang="en-US" sz="1600" b="1" i="1" dirty="0">
                <a:solidFill>
                  <a:srgbClr val="1C9BB0"/>
                </a:solidFill>
                <a:latin typeface="Calibri" pitchFamily="34" charset="0"/>
                <a:ea typeface="Calibri" pitchFamily="34" charset="-122"/>
                <a:cs typeface="Calibri" pitchFamily="34" charset="-120"/>
              </a:rPr>
              <a:t>Merci — place à la démonstration en direct.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EPSI myDiL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Equipe Resilience-Alpha</dc:creator>
  <cp:lastModifiedBy>Equipe Resilience-Alpha</cp:lastModifiedBy>
  <cp:revision>1</cp:revision>
  <dcterms:created xsi:type="dcterms:W3CDTF">2026-10-21T11:42:59Z</dcterms:created>
  <dcterms:modified xsi:type="dcterms:W3CDTF">2026-10-21T11:42:59Z</dcterms:modified>
</cp:coreProperties>
</file>